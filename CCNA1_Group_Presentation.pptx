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b362674-5eeb-f6e0-e281-b3756763d52b}">
          <p14:sldIdLst>
            <p14:sldId id="256"/>
            <p14:sldId id="257"/>
          </p14:sldIdLst>
        </p14:section>
        <p14:section name="Design" id="{37f1bdc3-d917-6d71-cc0c-9567c6ff4280}">
          <p14:sldIdLst>
            <p14:sldId id="258"/>
            <p14:sldId id="259"/>
            <p14:sldId id="260"/>
          </p14:sldIdLst>
        </p14:section>
        <p14:section name="Build and configure" id="{260cde3a-4213-d07a-792e-c78b61a50990}">
          <p14:sldIdLst>
            <p14:sldId id="261"/>
            <p14:sldId id="262"/>
            <p14:sldId id="263"/>
            <p14:sldId id="264"/>
          </p14:sldIdLst>
        </p14:section>
        <p14:section name="Services and security" id="{5cea7883-0eaf-f0f2-8896-f5d00dd91186}">
          <p14:sldIdLst>
            <p14:sldId id="265"/>
            <p14:sldId id="266"/>
          </p14:sldIdLst>
        </p14:section>
        <p14:section name="Troubleshoot and explain" id="{b899e8f2-1020-2b4f-77e8-5626b57c02bd}">
          <p14:sldIdLst>
            <p14:sldId id="267"/>
            <p14:sldId id="268"/>
          </p14:sldIdLst>
        </p14:section>
        <p14:section name="Close" id="{8c67ab51-64f8-c225-67f6-77c5fb50764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names and roles (designer/documenter, switch engineer, router engineer, tester/troubleshooter). Say that the network, not the slides, is the evidence: we will demonstrate live in Packet Tracer. Total time about 25 minutes plus 10 minutes of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of the presentation, about 2 minutes. State what the office needs: three working areas, one address block, one router, three switches. Mention the requirements: communication across LANs, correct cabling and addressing, secure management, a web page by name, IPv6 dual stack, and full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about 3 minutes (shared with the subnet and addressing slides). Walk through the topology top-down: end devices, access switches, router as default gateway. All 12 links are straight-through. Router G0/0, G0/1, G0/2 go to Gi0/1 of SW-ADMIN, SW-OPS and SW-IT.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Explain VLSM: allocate the largest network first, start each block right after the previous broadcast address. 50 hosts need 6 host bits (2^6 - 2 = 62) so /26; 25 hosts need 5 bits so /27; 10 hosts need 4 bits so /28. Free space 192.168.10.112 to .255 is kept for growth. Be ready to calculate any subnet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Show the addressing table. Hosts are numbered so that the last octet tells the department: 10s Admin, 70s Operations, 100s IT. Each LAN has its own mask and gateway. The router uses FE80::1 as link-local on all three interfaces. DNS for every device is Server-IT at 192.168.10.100.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about 3 minutes. Cabling: we chose every cable ourselves, no automatic cable. Link lights: end-device links go green; router links stay red until no shutdown. End devices: IP, mask, gateway and DNS entered by hand, verified with ipconfig /all. Before the router was configured, same-LAN pings worked and cross-LAN pings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about 4 minutes (switches and router). Show the saved configuration and the key verification commands. Explain why the SVI needs ip default-gateway (remote management from another LAN). Show show mac address-table after a ping to prove the switch learns source MAC addresses. Do not read passwords aloud; they are lab-only.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Router interfaces are shut down by default; no shutdown brings them up. Each interface address is the default gateway of its LAN. Explain the routing table: C is a connected network, L is the router's own /32 address. The table says variably subnetted, 6 subnets, 3 masks. No gateway of last resort because there is no Internet in this lab. A packet for 192.168.10.100 matches 192.168.10.96/28 by longest prefix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about 3 minutes. Run these on PC-ADM1 live. Point out that the first ping may lose one reply because of ARP. In tracert, hop 1 is the default gateway and hop 2 the server. TTL 128 inside the LAN becomes 127 after crossing the router. For IPv6, ipv6 unicast-routing must be on; without it the router does not forward IPv6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6, about 4 minutes. Server-IT runs HTTP and DNS (records intranet.office.local and printer.office.local). Demo: open http://intranet.office.local from PC-OPS1 in Simulation mode and step through. Show one ARP exchange and one TCP three-way handshake. Key conclusion: IP addresses stay the same end to end, MAC addresses change at every router hop, and TTL drops by 1 at each router. Switch back to Realtime mode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7, about 3 minutes. Demo: ssh -l netadmin 192.168.10.66 from PC-ADM1 (works from another LAN because the switch has a default gateway), then telnet 192.168.10.2 is refused. Port security: swap the cables of PC-ADM1 and PC-ADM2, ports go err-disabled; recover with shutdown then no shutdown. Show show interfaces status to prove unused ports are disabled and the uplink Gi0/1 is still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8, about 3 minutes. Fix a fault introduced by the other group or the lecturer using the four-step ticket: Problem, Diagnosis, Solution, Verification. Method: define the problem exactly, gather facts, make one hypothesis, change one thing at a time, verify from the user side, document. The example ticket is the wrong default gateway on PC-IT1.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9, the Packet Journey Challenge. Be ready for the lecturer to pick any source and destination. AND check for stage 1: 70 = 01000110 AND 11100000 = 01000000 = 64, the server 100 = 01100100 AND 11100000 = 01100000 = 96, so the DNS server is remote and the PC sends to its gateway. Use the words encapsulation, PDU, MAC address, IP address, port number, ARP, default gateway, routing table, TTL, broadcast, unicast, DNS, TCP, UDP and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9, about 10 minutes of questions. Every member must be able to explain the whole network: the lecturer chooses who answers. Likely topics: subnet calculation by hand, the AND operation, MAC and IP changes at each hop, ARP, TCP versus UDP, SSH versus Telnet, port security modes, and how to reset a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2A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212080" cy="1920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ph idx="101" type="body" hasCustomPrompt="1"/>
          </p:nvPr>
        </p:nvSpPr>
        <p:spPr>
          <a:xfrm>
            <a:off x="640080" y="3200400"/>
            <a:ext cx="5212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212080" cy="1920240"/>
          </a:xfrm>
          <a:prstGeom prst="rect">
            <a:avLst/>
          </a:prstGeom>
          <a:noFill/>
          <a:ln/>
        </p:spPr>
        <p:txBody>
          <a:bodyPr wrap="square" lIns="0" tIns="0" rIns="0" bIns="0" rtlCol="0" anchor="t"/>
          <a:lstStyle/>
          <a:p>
            <a:pPr indent="0" marL="0">
              <a:buNone/>
            </a:pPr>
            <a:r>
              <a:rPr lang="en-US" sz="3600" b="1" dirty="0">
                <a:solidFill>
                  <a:schemeClr val="bg1"/>
                </a:solidFill>
              </a:rPr>
              <a:t>Design, Build and Test a Small Office Network</a:t>
            </a:r>
            <a:endParaRPr lang="en-US" sz="3600" dirty="0"/>
          </a:p>
        </p:txBody>
      </p:sp>
      <p:sp>
        <p:nvSpPr>
          <p:cNvPr id="3" name="Text 0"/>
          <p:cNvSpPr/>
          <p:nvPr>
            <p:ph idx="101" type="body" hasCustomPrompt="1"/>
          </p:nvPr>
        </p:nvSpPr>
        <p:spPr>
          <a:xfrm>
            <a:off x="640080" y="3200400"/>
            <a:ext cx="5212080" cy="1280160"/>
          </a:xfrm>
          <a:prstGeom prst="rect">
            <a:avLst/>
          </a:prstGeom>
          <a:noFill/>
          <a:ln/>
        </p:spPr>
        <p:txBody>
          <a:bodyPr wrap="square" lIns="0" tIns="0" rIns="0" bIns="0" rtlCol="0" anchor="t"/>
          <a:lstStyle/>
          <a:p>
            <a:pPr indent="0" marL="0">
              <a:buNone/>
            </a:pPr>
            <a:r>
              <a:rPr lang="en-US" sz="1800" dirty="0">
                <a:solidFill>
                  <a:schemeClr val="bg2"/>
                </a:solidFill>
              </a:rPr>
              <a:t>CCNA 1 Group Practical Lab 1 · Uganda Christian University</a:t>
            </a:r>
            <a:endParaRPr lang="en-US" sz="1800" dirty="0"/>
          </a:p>
          <a:p>
            <a:pPr indent="0" marL="0">
              <a:buNone/>
            </a:pPr>
            <a:r>
              <a:rPr lang="en-US" sz="1800" dirty="0">
                <a:solidFill>
                  <a:schemeClr val="bg2"/>
                </a:solidFill>
              </a:rPr>
              <a:t>Group X: add member names and roles</a:t>
            </a:r>
            <a:endParaRPr lang="en-US" sz="1800" dirty="0"/>
          </a:p>
        </p:txBody>
      </p:sp>
      <p:sp>
        <p:nvSpPr>
          <p:cNvPr id="4" name="Link left"/>
          <p:cNvSpPr/>
          <p:nvPr/>
        </p:nvSpPr>
        <p:spPr>
          <a:xfrm flipH="1">
            <a:off x="6309360" y="1783080"/>
            <a:ext cx="1005840" cy="1252728"/>
          </a:xfrm>
          <a:prstGeom prst="line">
            <a:avLst/>
          </a:prstGeom>
          <a:noFill/>
          <a:ln w="25400">
            <a:solidFill>
              <a:schemeClr val="accent6"/>
            </a:solidFill>
            <a:prstDash val="solid"/>
          </a:ln>
        </p:spPr>
      </p:sp>
      <p:sp>
        <p:nvSpPr>
          <p:cNvPr id="5" name="Link middle"/>
          <p:cNvSpPr/>
          <p:nvPr/>
        </p:nvSpPr>
        <p:spPr>
          <a:xfrm>
            <a:off x="7315200" y="1783080"/>
            <a:ext cx="0" cy="1252728"/>
          </a:xfrm>
          <a:prstGeom prst="line">
            <a:avLst/>
          </a:prstGeom>
          <a:noFill/>
          <a:ln w="25400">
            <a:solidFill>
              <a:schemeClr val="accent6"/>
            </a:solidFill>
            <a:prstDash val="solid"/>
          </a:ln>
        </p:spPr>
      </p:sp>
      <p:sp>
        <p:nvSpPr>
          <p:cNvPr id="6" name="Link right"/>
          <p:cNvSpPr/>
          <p:nvPr/>
        </p:nvSpPr>
        <p:spPr>
          <a:xfrm>
            <a:off x="7315200" y="1783080"/>
            <a:ext cx="1005840" cy="1252728"/>
          </a:xfrm>
          <a:prstGeom prst="line">
            <a:avLst/>
          </a:prstGeom>
          <a:noFill/>
          <a:ln w="25400">
            <a:solidFill>
              <a:schemeClr val="accent6"/>
            </a:solidFill>
            <a:prstDash val="solid"/>
          </a:ln>
        </p:spPr>
      </p:sp>
      <p:sp>
        <p:nvSpPr>
          <p:cNvPr id="7" name="Router node"/>
          <p:cNvSpPr/>
          <p:nvPr/>
        </p:nvSpPr>
        <p:spPr>
          <a:xfrm>
            <a:off x="6995160" y="1143000"/>
            <a:ext cx="640080" cy="640080"/>
          </a:xfrm>
          <a:prstGeom prst="ellipse">
            <a:avLst/>
          </a:prstGeom>
          <a:solidFill>
            <a:schemeClr val="accent2"/>
          </a:solidFill>
          <a:ln/>
        </p:spPr>
      </p:sp>
      <p:sp>
        <p:nvSpPr>
          <p:cNvPr id="8" name="Switch node 1"/>
          <p:cNvSpPr/>
          <p:nvPr/>
        </p:nvSpPr>
        <p:spPr>
          <a:xfrm>
            <a:off x="6057900" y="3017520"/>
            <a:ext cx="502920" cy="502920"/>
          </a:xfrm>
          <a:prstGeom prst="ellipse">
            <a:avLst/>
          </a:prstGeom>
          <a:solidFill>
            <a:schemeClr val="accent1"/>
          </a:solidFill>
          <a:ln/>
        </p:spPr>
      </p:sp>
      <p:sp>
        <p:nvSpPr>
          <p:cNvPr id="9" name="Switch node 2"/>
          <p:cNvSpPr/>
          <p:nvPr/>
        </p:nvSpPr>
        <p:spPr>
          <a:xfrm>
            <a:off x="7063740" y="3017520"/>
            <a:ext cx="502920" cy="502920"/>
          </a:xfrm>
          <a:prstGeom prst="ellipse">
            <a:avLst/>
          </a:prstGeom>
          <a:solidFill>
            <a:schemeClr val="accent1"/>
          </a:solidFill>
          <a:ln/>
        </p:spPr>
      </p:sp>
      <p:sp>
        <p:nvSpPr>
          <p:cNvPr id="10" name="Switch node 3"/>
          <p:cNvSpPr/>
          <p:nvPr/>
        </p:nvSpPr>
        <p:spPr>
          <a:xfrm>
            <a:off x="8069580" y="3017520"/>
            <a:ext cx="502920" cy="502920"/>
          </a:xfrm>
          <a:prstGeom prst="ellipse">
            <a:avLst/>
          </a:prstGeom>
          <a:solidFill>
            <a:schemeClr val="accent1"/>
          </a:solidFill>
          <a:ln/>
        </p:spPr>
      </p:sp>
      <p:sp>
        <p:nvSpPr>
          <p:cNvPr id="11" name="Host link 1"/>
          <p:cNvSpPr/>
          <p:nvPr/>
        </p:nvSpPr>
        <p:spPr>
          <a:xfrm flipH="1">
            <a:off x="5806440" y="3520440"/>
            <a:ext cx="502920" cy="457200"/>
          </a:xfrm>
          <a:prstGeom prst="line">
            <a:avLst/>
          </a:prstGeom>
          <a:noFill/>
          <a:ln w="12700">
            <a:solidFill>
              <a:schemeClr val="accent5"/>
            </a:solidFill>
            <a:prstDash val="solid"/>
          </a:ln>
        </p:spPr>
      </p:sp>
      <p:sp>
        <p:nvSpPr>
          <p:cNvPr id="12" name="Host link 2"/>
          <p:cNvSpPr/>
          <p:nvPr/>
        </p:nvSpPr>
        <p:spPr>
          <a:xfrm>
            <a:off x="6309360" y="3520440"/>
            <a:ext cx="0" cy="457200"/>
          </a:xfrm>
          <a:prstGeom prst="line">
            <a:avLst/>
          </a:prstGeom>
          <a:noFill/>
          <a:ln w="12700">
            <a:solidFill>
              <a:schemeClr val="accent5"/>
            </a:solidFill>
            <a:prstDash val="solid"/>
          </a:ln>
        </p:spPr>
      </p:sp>
      <p:sp>
        <p:nvSpPr>
          <p:cNvPr id="13" name="Host link 3"/>
          <p:cNvSpPr/>
          <p:nvPr/>
        </p:nvSpPr>
        <p:spPr>
          <a:xfrm>
            <a:off x="6309360" y="3520440"/>
            <a:ext cx="502920" cy="457200"/>
          </a:xfrm>
          <a:prstGeom prst="line">
            <a:avLst/>
          </a:prstGeom>
          <a:noFill/>
          <a:ln w="12700">
            <a:solidFill>
              <a:schemeClr val="accent5"/>
            </a:solidFill>
            <a:prstDash val="solid"/>
          </a:ln>
        </p:spPr>
      </p:sp>
      <p:sp>
        <p:nvSpPr>
          <p:cNvPr id="14" name="Host link 4"/>
          <p:cNvSpPr/>
          <p:nvPr/>
        </p:nvSpPr>
        <p:spPr>
          <a:xfrm flipH="1">
            <a:off x="6812280" y="3520440"/>
            <a:ext cx="502920" cy="457200"/>
          </a:xfrm>
          <a:prstGeom prst="line">
            <a:avLst/>
          </a:prstGeom>
          <a:noFill/>
          <a:ln w="12700">
            <a:solidFill>
              <a:schemeClr val="accent5"/>
            </a:solidFill>
            <a:prstDash val="solid"/>
          </a:ln>
        </p:spPr>
      </p:sp>
      <p:sp>
        <p:nvSpPr>
          <p:cNvPr id="15" name="Host link 5"/>
          <p:cNvSpPr/>
          <p:nvPr/>
        </p:nvSpPr>
        <p:spPr>
          <a:xfrm>
            <a:off x="7315200" y="3520440"/>
            <a:ext cx="0" cy="457200"/>
          </a:xfrm>
          <a:prstGeom prst="line">
            <a:avLst/>
          </a:prstGeom>
          <a:noFill/>
          <a:ln w="12700">
            <a:solidFill>
              <a:schemeClr val="accent5"/>
            </a:solidFill>
            <a:prstDash val="solid"/>
          </a:ln>
        </p:spPr>
      </p:sp>
      <p:sp>
        <p:nvSpPr>
          <p:cNvPr id="16" name="Host link 6"/>
          <p:cNvSpPr/>
          <p:nvPr/>
        </p:nvSpPr>
        <p:spPr>
          <a:xfrm>
            <a:off x="7315200" y="3520440"/>
            <a:ext cx="502920" cy="457200"/>
          </a:xfrm>
          <a:prstGeom prst="line">
            <a:avLst/>
          </a:prstGeom>
          <a:noFill/>
          <a:ln w="12700">
            <a:solidFill>
              <a:schemeClr val="accent5"/>
            </a:solidFill>
            <a:prstDash val="solid"/>
          </a:ln>
        </p:spPr>
      </p:sp>
      <p:sp>
        <p:nvSpPr>
          <p:cNvPr id="17" name="Host link 7"/>
          <p:cNvSpPr/>
          <p:nvPr/>
        </p:nvSpPr>
        <p:spPr>
          <a:xfrm flipH="1">
            <a:off x="7818120" y="3520440"/>
            <a:ext cx="502920" cy="457200"/>
          </a:xfrm>
          <a:prstGeom prst="line">
            <a:avLst/>
          </a:prstGeom>
          <a:noFill/>
          <a:ln w="12700">
            <a:solidFill>
              <a:schemeClr val="accent5"/>
            </a:solidFill>
            <a:prstDash val="solid"/>
          </a:ln>
        </p:spPr>
      </p:sp>
      <p:sp>
        <p:nvSpPr>
          <p:cNvPr id="18" name="Host link 8"/>
          <p:cNvSpPr/>
          <p:nvPr/>
        </p:nvSpPr>
        <p:spPr>
          <a:xfrm>
            <a:off x="8321040" y="3520440"/>
            <a:ext cx="0" cy="457200"/>
          </a:xfrm>
          <a:prstGeom prst="line">
            <a:avLst/>
          </a:prstGeom>
          <a:noFill/>
          <a:ln w="12700">
            <a:solidFill>
              <a:schemeClr val="accent5"/>
            </a:solidFill>
            <a:prstDash val="solid"/>
          </a:ln>
        </p:spPr>
      </p:sp>
      <p:sp>
        <p:nvSpPr>
          <p:cNvPr id="19" name="Host link 9"/>
          <p:cNvSpPr/>
          <p:nvPr/>
        </p:nvSpPr>
        <p:spPr>
          <a:xfrm>
            <a:off x="8321040" y="3520440"/>
            <a:ext cx="502920" cy="457200"/>
          </a:xfrm>
          <a:prstGeom prst="line">
            <a:avLst/>
          </a:prstGeom>
          <a:noFill/>
          <a:ln w="1270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Kampala Small Office needs a network</a:t>
            </a:r>
            <a:endParaRPr lang="en-US" sz="3000" dirty="0"/>
          </a:p>
        </p:txBody>
      </p:sp>
      <p:sp>
        <p:nvSpPr>
          <p:cNvPr id="4" name="Text 1"/>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dirty="0">
                <a:solidFill>
                  <a:schemeClr val="tx1"/>
                </a:solidFill>
              </a:rPr>
              <a:t>The ICT Directorate gave us one block, 192.168.10.0/24, one router, three switches and UTP cabling.</a:t>
            </a:r>
            <a:endParaRPr lang="en-US" sz="1400" dirty="0"/>
          </a:p>
        </p:txBody>
      </p:sp>
      <p:sp>
        <p:nvSpPr>
          <p:cNvPr id="5" name="Stat card 1"/>
          <p:cNvSpPr/>
          <p:nvPr/>
        </p:nvSpPr>
        <p:spPr>
          <a:xfrm>
            <a:off x="457200" y="1645920"/>
            <a:ext cx="2651760" cy="1097280"/>
          </a:xfrm>
          <a:prstGeom prst="roundRect">
            <a:avLst>
              <a:gd name="adj" fmla="val 6667"/>
            </a:avLst>
          </a:prstGeom>
          <a:solidFill>
            <a:schemeClr val="bg2"/>
          </a:solidFill>
          <a:ln/>
        </p:spPr>
      </p:sp>
      <p:sp>
        <p:nvSpPr>
          <p:cNvPr id="6" name="Stat number 1"/>
          <p:cNvSpPr txBox="1"/>
          <p:nvPr/>
        </p:nvSpPr>
        <p:spPr>
          <a:xfrm>
            <a:off x="640080" y="1645920"/>
            <a:ext cx="914400" cy="1097280"/>
          </a:xfrm>
          <a:prstGeom prst="rect">
            <a:avLst/>
          </a:prstGeom>
          <a:noFill/>
          <a:ln/>
        </p:spPr>
        <p:txBody>
          <a:bodyPr wrap="square" lIns="0" tIns="0" rIns="0" bIns="0" rtlCol="0" anchor="ctr"/>
          <a:lstStyle/>
          <a:p>
            <a:pPr indent="0" marL="0">
              <a:buNone/>
            </a:pPr>
            <a:r>
              <a:rPr lang="en-US" sz="4000" b="1" dirty="0">
                <a:solidFill>
                  <a:schemeClr val="accent1"/>
                </a:solidFill>
              </a:rPr>
              <a:t>50</a:t>
            </a:r>
            <a:endParaRPr lang="en-US" sz="4000" dirty="0"/>
          </a:p>
        </p:txBody>
      </p:sp>
      <p:sp>
        <p:nvSpPr>
          <p:cNvPr id="7" name="Stat label 1"/>
          <p:cNvSpPr txBox="1"/>
          <p:nvPr/>
        </p:nvSpPr>
        <p:spPr>
          <a:xfrm>
            <a:off x="1645920" y="1645920"/>
            <a:ext cx="1371600" cy="1097280"/>
          </a:xfrm>
          <a:prstGeom prst="rect">
            <a:avLst/>
          </a:prstGeom>
          <a:noFill/>
          <a:ln/>
        </p:spPr>
        <p:txBody>
          <a:bodyPr wrap="square" lIns="0" tIns="0" rIns="0" bIns="0" rtlCol="0" anchor="ctr"/>
          <a:lstStyle/>
          <a:p>
            <a:pPr indent="0" marL="0">
              <a:buNone/>
            </a:pPr>
            <a:r>
              <a:rPr lang="en-US" sz="1600" b="1" dirty="0">
                <a:solidFill>
                  <a:schemeClr val="tx1"/>
                </a:solidFill>
              </a:rPr>
              <a:t>Administration</a:t>
            </a:r>
            <a:endParaRPr lang="en-US" sz="1400" dirty="0"/>
          </a:p>
          <a:p>
            <a:pPr indent="0" marL="0">
              <a:buNone/>
            </a:pPr>
            <a:r>
              <a:rPr lang="en-US" sz="1200" dirty="0">
                <a:solidFill>
                  <a:schemeClr val="accent5"/>
                </a:solidFill>
              </a:rPr>
              <a:t>LAN 1 · future hosts</a:t>
            </a:r>
            <a:endParaRPr lang="en-US" sz="1400" dirty="0"/>
          </a:p>
        </p:txBody>
      </p:sp>
      <p:sp>
        <p:nvSpPr>
          <p:cNvPr id="8" name="Stat card 2"/>
          <p:cNvSpPr/>
          <p:nvPr/>
        </p:nvSpPr>
        <p:spPr>
          <a:xfrm>
            <a:off x="3246120" y="1645920"/>
            <a:ext cx="2651760" cy="1097280"/>
          </a:xfrm>
          <a:prstGeom prst="roundRect">
            <a:avLst>
              <a:gd name="adj" fmla="val 6667"/>
            </a:avLst>
          </a:prstGeom>
          <a:solidFill>
            <a:schemeClr val="bg2"/>
          </a:solidFill>
          <a:ln/>
        </p:spPr>
      </p:sp>
      <p:sp>
        <p:nvSpPr>
          <p:cNvPr id="9" name="Stat number 2"/>
          <p:cNvSpPr txBox="1"/>
          <p:nvPr/>
        </p:nvSpPr>
        <p:spPr>
          <a:xfrm>
            <a:off x="3429000" y="1645920"/>
            <a:ext cx="914400" cy="1097280"/>
          </a:xfrm>
          <a:prstGeom prst="rect">
            <a:avLst/>
          </a:prstGeom>
          <a:noFill/>
          <a:ln/>
        </p:spPr>
        <p:txBody>
          <a:bodyPr wrap="square" lIns="0" tIns="0" rIns="0" bIns="0" rtlCol="0" anchor="ctr"/>
          <a:lstStyle/>
          <a:p>
            <a:pPr indent="0" marL="0">
              <a:buNone/>
            </a:pPr>
            <a:r>
              <a:rPr lang="en-US" sz="4000" b="1" dirty="0">
                <a:solidFill>
                  <a:schemeClr val="accent1"/>
                </a:solidFill>
              </a:rPr>
              <a:t>25</a:t>
            </a:r>
            <a:endParaRPr lang="en-US" sz="4000" dirty="0"/>
          </a:p>
        </p:txBody>
      </p:sp>
      <p:sp>
        <p:nvSpPr>
          <p:cNvPr id="10" name="Stat label 2"/>
          <p:cNvSpPr txBox="1"/>
          <p:nvPr/>
        </p:nvSpPr>
        <p:spPr>
          <a:xfrm>
            <a:off x="4434840" y="1645920"/>
            <a:ext cx="1371600" cy="1097280"/>
          </a:xfrm>
          <a:prstGeom prst="rect">
            <a:avLst/>
          </a:prstGeom>
          <a:noFill/>
          <a:ln/>
        </p:spPr>
        <p:txBody>
          <a:bodyPr wrap="square" lIns="0" tIns="0" rIns="0" bIns="0" rtlCol="0" anchor="ctr"/>
          <a:lstStyle/>
          <a:p>
            <a:pPr indent="0" marL="0">
              <a:buNone/>
            </a:pPr>
            <a:r>
              <a:rPr lang="en-US" sz="1600" b="1" dirty="0">
                <a:solidFill>
                  <a:schemeClr val="tx1"/>
                </a:solidFill>
              </a:rPr>
              <a:t>Operations</a:t>
            </a:r>
            <a:endParaRPr lang="en-US" sz="1400" dirty="0"/>
          </a:p>
          <a:p>
            <a:pPr indent="0" marL="0">
              <a:buNone/>
            </a:pPr>
            <a:r>
              <a:rPr lang="en-US" sz="1200" dirty="0">
                <a:solidFill>
                  <a:schemeClr val="accent5"/>
                </a:solidFill>
              </a:rPr>
              <a:t>LAN 2 · future hosts</a:t>
            </a:r>
            <a:endParaRPr lang="en-US" sz="1400" dirty="0"/>
          </a:p>
        </p:txBody>
      </p:sp>
      <p:sp>
        <p:nvSpPr>
          <p:cNvPr id="11" name="Stat card 3"/>
          <p:cNvSpPr/>
          <p:nvPr/>
        </p:nvSpPr>
        <p:spPr>
          <a:xfrm>
            <a:off x="6035040" y="1645920"/>
            <a:ext cx="2651760" cy="1097280"/>
          </a:xfrm>
          <a:prstGeom prst="roundRect">
            <a:avLst>
              <a:gd name="adj" fmla="val 6667"/>
            </a:avLst>
          </a:prstGeom>
          <a:solidFill>
            <a:schemeClr val="bg2"/>
          </a:solidFill>
          <a:ln/>
        </p:spPr>
      </p:sp>
      <p:sp>
        <p:nvSpPr>
          <p:cNvPr id="12" name="Stat number 3"/>
          <p:cNvSpPr txBox="1"/>
          <p:nvPr/>
        </p:nvSpPr>
        <p:spPr>
          <a:xfrm>
            <a:off x="6217920" y="1645920"/>
            <a:ext cx="914400" cy="1097280"/>
          </a:xfrm>
          <a:prstGeom prst="rect">
            <a:avLst/>
          </a:prstGeom>
          <a:noFill/>
          <a:ln/>
        </p:spPr>
        <p:txBody>
          <a:bodyPr wrap="square" lIns="0" tIns="0" rIns="0" bIns="0" rtlCol="0" anchor="ctr"/>
          <a:lstStyle/>
          <a:p>
            <a:pPr indent="0" marL="0">
              <a:buNone/>
            </a:pPr>
            <a:r>
              <a:rPr lang="en-US" sz="4000" b="1" dirty="0">
                <a:solidFill>
                  <a:schemeClr val="accent1"/>
                </a:solidFill>
              </a:rPr>
              <a:t>10</a:t>
            </a:r>
            <a:endParaRPr lang="en-US" sz="4000" dirty="0"/>
          </a:p>
        </p:txBody>
      </p:sp>
      <p:sp>
        <p:nvSpPr>
          <p:cNvPr id="13" name="Stat label 3"/>
          <p:cNvSpPr txBox="1"/>
          <p:nvPr/>
        </p:nvSpPr>
        <p:spPr>
          <a:xfrm>
            <a:off x="7223760" y="1645920"/>
            <a:ext cx="1371600" cy="1097280"/>
          </a:xfrm>
          <a:prstGeom prst="rect">
            <a:avLst/>
          </a:prstGeom>
          <a:noFill/>
          <a:ln/>
        </p:spPr>
        <p:txBody>
          <a:bodyPr wrap="square" lIns="0" tIns="0" rIns="0" bIns="0" rtlCol="0" anchor="ctr"/>
          <a:lstStyle/>
          <a:p>
            <a:pPr indent="0" marL="0">
              <a:buNone/>
            </a:pPr>
            <a:r>
              <a:rPr lang="en-US" sz="1600" b="1" dirty="0">
                <a:solidFill>
                  <a:schemeClr val="tx1"/>
                </a:solidFill>
              </a:rPr>
              <a:t>IT and Servers</a:t>
            </a:r>
            <a:endParaRPr lang="en-US" sz="1400" dirty="0"/>
          </a:p>
          <a:p>
            <a:pPr indent="0" marL="0">
              <a:buNone/>
            </a:pPr>
            <a:r>
              <a:rPr lang="en-US" sz="1200" dirty="0">
                <a:solidFill>
                  <a:schemeClr val="accent5"/>
                </a:solidFill>
              </a:rPr>
              <a:t>LAN 3 · future hosts</a:t>
            </a:r>
            <a:endParaRPr lang="en-US" sz="1400" dirty="0"/>
          </a:p>
        </p:txBody>
      </p:sp>
      <p:sp>
        <p:nvSpPr>
          <p:cNvPr id="14" name="Text 11"/>
          <p:cNvSpPr txBox="1"/>
          <p:nvPr/>
        </p:nvSpPr>
        <p:spPr>
          <a:xfrm>
            <a:off x="457200" y="2926080"/>
            <a:ext cx="8229600" cy="320040"/>
          </a:xfrm>
          <a:prstGeom prst="rect">
            <a:avLst/>
          </a:prstGeom>
          <a:noFill/>
          <a:ln/>
        </p:spPr>
        <p:txBody>
          <a:bodyPr wrap="square" lIns="0" tIns="0" rIns="0" bIns="0" rtlCol="0" anchor="t"/>
          <a:lstStyle/>
          <a:p>
            <a:pPr indent="0" marL="0">
              <a:buNone/>
            </a:pPr>
            <a:r>
              <a:rPr lang="en-US" sz="1800" b="1" dirty="0">
                <a:solidFill>
                  <a:schemeClr val="tx2"/>
                </a:solidFill>
              </a:rPr>
              <a:t>What the network must do</a:t>
            </a:r>
            <a:endParaRPr lang="en-US" sz="1400" dirty="0"/>
          </a:p>
        </p:txBody>
      </p:sp>
      <p:sp>
        <p:nvSpPr>
          <p:cNvPr id="15" name="Text 12"/>
          <p:cNvSpPr txBox="1"/>
          <p:nvPr/>
        </p:nvSpPr>
        <p:spPr>
          <a:xfrm>
            <a:off x="457200" y="3337560"/>
            <a:ext cx="40233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Every device reaches every other, in the same LAN and across LANs</a:t>
            </a:r>
            <a:endParaRPr lang="en-US" sz="1400" dirty="0"/>
          </a:p>
          <a:p>
            <a:pPr marL="342900" indent="-342900">
              <a:spcAft>
                <a:spcPts val="600"/>
              </a:spcAft>
              <a:buSzPct val="100000"/>
              <a:buChar char="•"/>
            </a:pPr>
            <a:r>
              <a:rPr lang="en-US" sz="1400" dirty="0">
                <a:solidFill>
                  <a:schemeClr val="tx1"/>
                </a:solidFill>
              </a:rPr>
              <a:t>Correct cables, addresses, masks and gateways</a:t>
            </a:r>
            <a:endParaRPr lang="en-US" sz="1400" dirty="0"/>
          </a:p>
          <a:p>
            <a:pPr marL="342900" indent="-342900">
              <a:spcAft>
                <a:spcPts val="600"/>
              </a:spcAft>
              <a:buSzPct val="100000"/>
              <a:buChar char="•"/>
            </a:pPr>
            <a:r>
              <a:rPr lang="en-US" sz="1400" dirty="0">
                <a:solidFill>
                  <a:schemeClr val="tx1"/>
                </a:solidFill>
              </a:rPr>
              <a:t>Secured: passwords, banner, SSH, unused ports shut</a:t>
            </a:r>
            <a:endParaRPr lang="en-US" sz="1400" dirty="0"/>
          </a:p>
        </p:txBody>
      </p:sp>
      <p:sp>
        <p:nvSpPr>
          <p:cNvPr id="16" name="Text 13"/>
          <p:cNvSpPr txBox="1"/>
          <p:nvPr/>
        </p:nvSpPr>
        <p:spPr>
          <a:xfrm>
            <a:off x="4663440" y="3337560"/>
            <a:ext cx="402336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Intranet page opens by name: http://intranet.office.local</a:t>
            </a:r>
            <a:endParaRPr lang="en-US" sz="1400" dirty="0"/>
          </a:p>
          <a:p>
            <a:pPr marL="342900" indent="-342900">
              <a:spcAft>
                <a:spcPts val="600"/>
              </a:spcAft>
              <a:buSzPct val="100000"/>
              <a:buChar char="•"/>
            </a:pPr>
            <a:r>
              <a:rPr lang="en-US" sz="1400" dirty="0">
                <a:solidFill>
                  <a:schemeClr val="tx1"/>
                </a:solidFill>
              </a:rPr>
              <a:t>IPv6 dual stack for the future</a:t>
            </a:r>
            <a:endParaRPr lang="en-US" sz="1400" dirty="0"/>
          </a:p>
          <a:p>
            <a:pPr marL="342900" indent="-342900">
              <a:spcAft>
                <a:spcPts val="600"/>
              </a:spcAft>
              <a:buSzPct val="100000"/>
              <a:buChar char="•"/>
            </a:pPr>
            <a:r>
              <a:rPr lang="en-US" sz="1400" dirty="0">
                <a:solidFill>
                  <a:schemeClr val="tx1"/>
                </a:solidFill>
              </a:rPr>
              <a:t>Documented so another technician can rebuild it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Design: three LANs joined by one router</a:t>
            </a:r>
            <a:endParaRPr lang="en-US" sz="3000" dirty="0"/>
          </a:p>
        </p:txBody>
      </p:sp>
      <p:sp>
        <p:nvSpPr>
          <p:cNvPr id="4" name="Link router to SW-ADMIN"/>
          <p:cNvSpPr/>
          <p:nvPr/>
        </p:nvSpPr>
        <p:spPr>
          <a:xfrm flipH="1">
            <a:off x="1828800" y="1783080"/>
            <a:ext cx="2743200" cy="640080"/>
          </a:xfrm>
          <a:prstGeom prst="line">
            <a:avLst/>
          </a:prstGeom>
          <a:noFill/>
          <a:ln w="19050">
            <a:solidFill>
              <a:schemeClr val="accent5"/>
            </a:solidFill>
            <a:prstDash val="solid"/>
          </a:ln>
        </p:spPr>
      </p:sp>
      <p:sp>
        <p:nvSpPr>
          <p:cNvPr id="5" name="Link router to SW-OPS"/>
          <p:cNvSpPr/>
          <p:nvPr/>
        </p:nvSpPr>
        <p:spPr>
          <a:xfrm>
            <a:off x="4572000" y="1783080"/>
            <a:ext cx="0" cy="640080"/>
          </a:xfrm>
          <a:prstGeom prst="line">
            <a:avLst/>
          </a:prstGeom>
          <a:noFill/>
          <a:ln w="19050">
            <a:solidFill>
              <a:schemeClr val="accent5"/>
            </a:solidFill>
            <a:prstDash val="solid"/>
          </a:ln>
        </p:spPr>
      </p:sp>
      <p:sp>
        <p:nvSpPr>
          <p:cNvPr id="6" name="Link router to SW-IT"/>
          <p:cNvSpPr/>
          <p:nvPr/>
        </p:nvSpPr>
        <p:spPr>
          <a:xfrm>
            <a:off x="4572000" y="1783080"/>
            <a:ext cx="2743200" cy="640080"/>
          </a:xfrm>
          <a:prstGeom prst="line">
            <a:avLst/>
          </a:prstGeom>
          <a:noFill/>
          <a:ln w="19050">
            <a:solidFill>
              <a:schemeClr val="accent5"/>
            </a:solidFill>
            <a:prstDash val="solid"/>
          </a:ln>
        </p:spPr>
      </p:sp>
      <p:sp>
        <p:nvSpPr>
          <p:cNvPr id="7" name="Link SW-ADMIN to PC-ADM1"/>
          <p:cNvSpPr/>
          <p:nvPr/>
        </p:nvSpPr>
        <p:spPr>
          <a:xfrm flipH="1">
            <a:off x="914400" y="2880360"/>
            <a:ext cx="914400" cy="502920"/>
          </a:xfrm>
          <a:prstGeom prst="line">
            <a:avLst/>
          </a:prstGeom>
          <a:noFill/>
          <a:ln w="19050">
            <a:solidFill>
              <a:schemeClr val="accent5"/>
            </a:solidFill>
            <a:prstDash val="solid"/>
          </a:ln>
        </p:spPr>
      </p:sp>
      <p:sp>
        <p:nvSpPr>
          <p:cNvPr id="8" name="Link SW-ADMIN to PC-ADM2"/>
          <p:cNvSpPr/>
          <p:nvPr/>
        </p:nvSpPr>
        <p:spPr>
          <a:xfrm>
            <a:off x="1828800" y="2880360"/>
            <a:ext cx="0" cy="502920"/>
          </a:xfrm>
          <a:prstGeom prst="line">
            <a:avLst/>
          </a:prstGeom>
          <a:noFill/>
          <a:ln w="19050">
            <a:solidFill>
              <a:schemeClr val="accent5"/>
            </a:solidFill>
            <a:prstDash val="solid"/>
          </a:ln>
        </p:spPr>
      </p:sp>
      <p:sp>
        <p:nvSpPr>
          <p:cNvPr id="9" name="Link SW-ADMIN to Printer-ADM"/>
          <p:cNvSpPr/>
          <p:nvPr/>
        </p:nvSpPr>
        <p:spPr>
          <a:xfrm>
            <a:off x="1828800" y="2880360"/>
            <a:ext cx="914400" cy="502920"/>
          </a:xfrm>
          <a:prstGeom prst="line">
            <a:avLst/>
          </a:prstGeom>
          <a:noFill/>
          <a:ln w="19050">
            <a:solidFill>
              <a:schemeClr val="accent5"/>
            </a:solidFill>
            <a:prstDash val="solid"/>
          </a:ln>
        </p:spPr>
      </p:sp>
      <p:sp>
        <p:nvSpPr>
          <p:cNvPr id="10" name="Link SW-OPS to PC-OPS1"/>
          <p:cNvSpPr/>
          <p:nvPr/>
        </p:nvSpPr>
        <p:spPr>
          <a:xfrm flipH="1">
            <a:off x="3657600" y="2880360"/>
            <a:ext cx="914400" cy="502920"/>
          </a:xfrm>
          <a:prstGeom prst="line">
            <a:avLst/>
          </a:prstGeom>
          <a:noFill/>
          <a:ln w="19050">
            <a:solidFill>
              <a:schemeClr val="accent5"/>
            </a:solidFill>
            <a:prstDash val="solid"/>
          </a:ln>
        </p:spPr>
      </p:sp>
      <p:sp>
        <p:nvSpPr>
          <p:cNvPr id="11" name="Link SW-OPS to PC-OPS2"/>
          <p:cNvSpPr/>
          <p:nvPr/>
        </p:nvSpPr>
        <p:spPr>
          <a:xfrm>
            <a:off x="4572000" y="2880360"/>
            <a:ext cx="0" cy="502920"/>
          </a:xfrm>
          <a:prstGeom prst="line">
            <a:avLst/>
          </a:prstGeom>
          <a:noFill/>
          <a:ln w="19050">
            <a:solidFill>
              <a:schemeClr val="accent5"/>
            </a:solidFill>
            <a:prstDash val="solid"/>
          </a:ln>
        </p:spPr>
      </p:sp>
      <p:sp>
        <p:nvSpPr>
          <p:cNvPr id="12" name="Link SW-OPS to Laptop-OPS"/>
          <p:cNvSpPr/>
          <p:nvPr/>
        </p:nvSpPr>
        <p:spPr>
          <a:xfrm>
            <a:off x="4572000" y="2880360"/>
            <a:ext cx="914400" cy="502920"/>
          </a:xfrm>
          <a:prstGeom prst="line">
            <a:avLst/>
          </a:prstGeom>
          <a:noFill/>
          <a:ln w="19050">
            <a:solidFill>
              <a:schemeClr val="accent5"/>
            </a:solidFill>
            <a:prstDash val="solid"/>
          </a:ln>
        </p:spPr>
      </p:sp>
      <p:sp>
        <p:nvSpPr>
          <p:cNvPr id="13" name="Link SW-IT to Server-IT"/>
          <p:cNvSpPr/>
          <p:nvPr/>
        </p:nvSpPr>
        <p:spPr>
          <a:xfrm flipH="1">
            <a:off x="6400800" y="2880360"/>
            <a:ext cx="914400" cy="502920"/>
          </a:xfrm>
          <a:prstGeom prst="line">
            <a:avLst/>
          </a:prstGeom>
          <a:noFill/>
          <a:ln w="19050">
            <a:solidFill>
              <a:schemeClr val="accent5"/>
            </a:solidFill>
            <a:prstDash val="solid"/>
          </a:ln>
        </p:spPr>
      </p:sp>
      <p:sp>
        <p:nvSpPr>
          <p:cNvPr id="14" name="Link SW-IT to PC-IT1"/>
          <p:cNvSpPr/>
          <p:nvPr/>
        </p:nvSpPr>
        <p:spPr>
          <a:xfrm>
            <a:off x="7315200" y="2880360"/>
            <a:ext cx="0" cy="502920"/>
          </a:xfrm>
          <a:prstGeom prst="line">
            <a:avLst/>
          </a:prstGeom>
          <a:noFill/>
          <a:ln w="19050">
            <a:solidFill>
              <a:schemeClr val="accent5"/>
            </a:solidFill>
            <a:prstDash val="solid"/>
          </a:ln>
        </p:spPr>
      </p:sp>
      <p:sp>
        <p:nvSpPr>
          <p:cNvPr id="15" name="Link SW-IT to PC-IT2"/>
          <p:cNvSpPr/>
          <p:nvPr/>
        </p:nvSpPr>
        <p:spPr>
          <a:xfrm>
            <a:off x="7315200" y="2880360"/>
            <a:ext cx="914400" cy="502920"/>
          </a:xfrm>
          <a:prstGeom prst="line">
            <a:avLst/>
          </a:prstGeom>
          <a:noFill/>
          <a:ln w="19050">
            <a:solidFill>
              <a:schemeClr val="accent5"/>
            </a:solidFill>
            <a:prstDash val="solid"/>
          </a:ln>
        </p:spPr>
      </p:sp>
      <p:sp>
        <p:nvSpPr>
          <p:cNvPr id="16" name="Router box"/>
          <p:cNvSpPr/>
          <p:nvPr/>
        </p:nvSpPr>
        <p:spPr>
          <a:xfrm>
            <a:off x="3383280" y="1143000"/>
            <a:ext cx="2377440" cy="640080"/>
          </a:xfrm>
          <a:prstGeom prst="roundRect">
            <a:avLst>
              <a:gd name="adj" fmla="val 11429"/>
            </a:avLst>
          </a:prstGeom>
          <a:solidFill>
            <a:schemeClr val="tx2"/>
          </a:solidFill>
          <a:ln/>
        </p:spPr>
      </p:sp>
      <p:sp>
        <p:nvSpPr>
          <p:cNvPr id="17" name="Router label"/>
          <p:cNvSpPr txBox="1"/>
          <p:nvPr/>
        </p:nvSpPr>
        <p:spPr>
          <a:xfrm>
            <a:off x="3383280" y="1143000"/>
            <a:ext cx="2377440" cy="640080"/>
          </a:xfrm>
          <a:prstGeom prst="rect">
            <a:avLst/>
          </a:prstGeom>
          <a:noFill/>
          <a:ln/>
        </p:spPr>
        <p:txBody>
          <a:bodyPr wrap="square" lIns="0" tIns="0" rIns="0" bIns="0" rtlCol="0" anchor="ctr"/>
          <a:lstStyle/>
          <a:p>
            <a:pPr algn="ctr" indent="0" marL="0">
              <a:buNone/>
            </a:pPr>
            <a:r>
              <a:rPr lang="en-US" sz="1400" b="1" dirty="0">
                <a:solidFill>
                  <a:schemeClr val="bg1"/>
                </a:solidFill>
              </a:rPr>
              <a:t>R-OFFICE</a:t>
            </a:r>
            <a:endParaRPr lang="en-US" sz="1400" dirty="0"/>
          </a:p>
          <a:p>
            <a:pPr algn="ctr" indent="0" marL="0">
              <a:buNone/>
            </a:pPr>
            <a:r>
              <a:rPr lang="en-US" sz="1100" dirty="0">
                <a:solidFill>
                  <a:schemeClr val="accent6"/>
                </a:solidFill>
              </a:rPr>
              <a:t>gateways .1 · .65 · .97</a:t>
            </a:r>
            <a:endParaRPr lang="en-US" sz="1400" dirty="0"/>
          </a:p>
        </p:txBody>
      </p:sp>
      <p:sp>
        <p:nvSpPr>
          <p:cNvPr id="18" name="SW-ADMIN box"/>
          <p:cNvSpPr/>
          <p:nvPr/>
        </p:nvSpPr>
        <p:spPr>
          <a:xfrm>
            <a:off x="914400" y="2423160"/>
            <a:ext cx="1828800" cy="457200"/>
          </a:xfrm>
          <a:prstGeom prst="roundRect">
            <a:avLst>
              <a:gd name="adj" fmla="val 16000"/>
            </a:avLst>
          </a:prstGeom>
          <a:solidFill>
            <a:schemeClr val="accent1"/>
          </a:solidFill>
          <a:ln/>
        </p:spPr>
      </p:sp>
      <p:sp>
        <p:nvSpPr>
          <p:cNvPr id="19" name="SW-ADMIN label"/>
          <p:cNvSpPr txBox="1"/>
          <p:nvPr/>
        </p:nvSpPr>
        <p:spPr>
          <a:xfrm>
            <a:off x="914400" y="2423160"/>
            <a:ext cx="1828800" cy="457200"/>
          </a:xfrm>
          <a:prstGeom prst="rect">
            <a:avLst/>
          </a:prstGeom>
          <a:noFill/>
          <a:ln/>
        </p:spPr>
        <p:txBody>
          <a:bodyPr wrap="square" lIns="0" tIns="0" rIns="0" bIns="0" rtlCol="0" anchor="ctr"/>
          <a:lstStyle/>
          <a:p>
            <a:pPr algn="ctr" indent="0" marL="0">
              <a:buNone/>
            </a:pPr>
            <a:r>
              <a:rPr lang="en-US" sz="1200" b="1" dirty="0">
                <a:solidFill>
                  <a:schemeClr val="bg1"/>
                </a:solidFill>
              </a:rPr>
              <a:t>SW-ADMIN  .2</a:t>
            </a:r>
            <a:endParaRPr lang="en-US" sz="1400" dirty="0"/>
          </a:p>
        </p:txBody>
      </p:sp>
      <p:sp>
        <p:nvSpPr>
          <p:cNvPr id="20" name="PC-ADM1 box"/>
          <p:cNvSpPr/>
          <p:nvPr/>
        </p:nvSpPr>
        <p:spPr>
          <a:xfrm>
            <a:off x="502920" y="3383280"/>
            <a:ext cx="822960" cy="548640"/>
          </a:xfrm>
          <a:prstGeom prst="roundRect">
            <a:avLst>
              <a:gd name="adj" fmla="val 13333"/>
            </a:avLst>
          </a:prstGeom>
          <a:solidFill>
            <a:schemeClr val="bg2"/>
          </a:solidFill>
          <a:ln/>
        </p:spPr>
      </p:sp>
      <p:sp>
        <p:nvSpPr>
          <p:cNvPr id="21" name="PC-ADM1 label"/>
          <p:cNvSpPr txBox="1"/>
          <p:nvPr/>
        </p:nvSpPr>
        <p:spPr>
          <a:xfrm>
            <a:off x="5029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PC-ADM1</a:t>
            </a:r>
            <a:endParaRPr lang="en-US" sz="1400" dirty="0"/>
          </a:p>
          <a:p>
            <a:pPr algn="ctr" indent="0" marL="0">
              <a:buNone/>
            </a:pPr>
            <a:r>
              <a:rPr lang="en-US" sz="1000" dirty="0">
                <a:solidFill>
                  <a:schemeClr val="accent1"/>
                </a:solidFill>
              </a:rPr>
              <a:t>.10</a:t>
            </a:r>
            <a:endParaRPr lang="en-US" sz="1400" dirty="0"/>
          </a:p>
        </p:txBody>
      </p:sp>
      <p:sp>
        <p:nvSpPr>
          <p:cNvPr id="22" name="PC-ADM2 box"/>
          <p:cNvSpPr/>
          <p:nvPr/>
        </p:nvSpPr>
        <p:spPr>
          <a:xfrm>
            <a:off x="1417320" y="3383280"/>
            <a:ext cx="822960" cy="548640"/>
          </a:xfrm>
          <a:prstGeom prst="roundRect">
            <a:avLst>
              <a:gd name="adj" fmla="val 13333"/>
            </a:avLst>
          </a:prstGeom>
          <a:solidFill>
            <a:schemeClr val="bg2"/>
          </a:solidFill>
          <a:ln/>
        </p:spPr>
      </p:sp>
      <p:sp>
        <p:nvSpPr>
          <p:cNvPr id="23" name="PC-ADM2 label"/>
          <p:cNvSpPr txBox="1"/>
          <p:nvPr/>
        </p:nvSpPr>
        <p:spPr>
          <a:xfrm>
            <a:off x="14173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PC-ADM2</a:t>
            </a:r>
            <a:endParaRPr lang="en-US" sz="1400" dirty="0"/>
          </a:p>
          <a:p>
            <a:pPr algn="ctr" indent="0" marL="0">
              <a:buNone/>
            </a:pPr>
            <a:r>
              <a:rPr lang="en-US" sz="1000" dirty="0">
                <a:solidFill>
                  <a:schemeClr val="accent1"/>
                </a:solidFill>
              </a:rPr>
              <a:t>.11</a:t>
            </a:r>
            <a:endParaRPr lang="en-US" sz="1400" dirty="0"/>
          </a:p>
        </p:txBody>
      </p:sp>
      <p:sp>
        <p:nvSpPr>
          <p:cNvPr id="24" name="Printer-ADM box"/>
          <p:cNvSpPr/>
          <p:nvPr/>
        </p:nvSpPr>
        <p:spPr>
          <a:xfrm>
            <a:off x="2331720" y="3383280"/>
            <a:ext cx="822960" cy="548640"/>
          </a:xfrm>
          <a:prstGeom prst="roundRect">
            <a:avLst>
              <a:gd name="adj" fmla="val 13333"/>
            </a:avLst>
          </a:prstGeom>
          <a:solidFill>
            <a:schemeClr val="bg2"/>
          </a:solidFill>
          <a:ln/>
        </p:spPr>
      </p:sp>
      <p:sp>
        <p:nvSpPr>
          <p:cNvPr id="25" name="Printer-ADM label"/>
          <p:cNvSpPr txBox="1"/>
          <p:nvPr/>
        </p:nvSpPr>
        <p:spPr>
          <a:xfrm>
            <a:off x="23317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Printer-ADM</a:t>
            </a:r>
            <a:endParaRPr lang="en-US" sz="1400" dirty="0"/>
          </a:p>
          <a:p>
            <a:pPr algn="ctr" indent="0" marL="0">
              <a:buNone/>
            </a:pPr>
            <a:r>
              <a:rPr lang="en-US" sz="1000" dirty="0">
                <a:solidFill>
                  <a:schemeClr val="accent1"/>
                </a:solidFill>
              </a:rPr>
              <a:t>.20</a:t>
            </a:r>
            <a:endParaRPr lang="en-US" sz="1400" dirty="0"/>
          </a:p>
        </p:txBody>
      </p:sp>
      <p:sp>
        <p:nvSpPr>
          <p:cNvPr id="26" name="SW-ADMIN LAN label"/>
          <p:cNvSpPr txBox="1"/>
          <p:nvPr/>
        </p:nvSpPr>
        <p:spPr>
          <a:xfrm>
            <a:off x="457200" y="4023360"/>
            <a:ext cx="2743200" cy="320040"/>
          </a:xfrm>
          <a:prstGeom prst="rect">
            <a:avLst/>
          </a:prstGeom>
          <a:noFill/>
          <a:ln/>
        </p:spPr>
        <p:txBody>
          <a:bodyPr wrap="square" lIns="0" tIns="0" rIns="0" bIns="0" rtlCol="0" anchor="t"/>
          <a:lstStyle/>
          <a:p>
            <a:pPr algn="ctr" indent="0" marL="0">
              <a:buNone/>
            </a:pPr>
            <a:r>
              <a:rPr lang="en-US" sz="1200" b="1" dirty="0">
                <a:solidFill>
                  <a:schemeClr val="tx2"/>
                </a:solidFill>
              </a:rPr>
              <a:t>LAN 1 Admin · 192.168.10.0/26</a:t>
            </a:r>
            <a:endParaRPr lang="en-US" sz="1200" dirty="0"/>
          </a:p>
        </p:txBody>
      </p:sp>
      <p:sp>
        <p:nvSpPr>
          <p:cNvPr id="27" name="SW-OPS box"/>
          <p:cNvSpPr/>
          <p:nvPr/>
        </p:nvSpPr>
        <p:spPr>
          <a:xfrm>
            <a:off x="3657600" y="2423160"/>
            <a:ext cx="1828800" cy="457200"/>
          </a:xfrm>
          <a:prstGeom prst="roundRect">
            <a:avLst>
              <a:gd name="adj" fmla="val 16000"/>
            </a:avLst>
          </a:prstGeom>
          <a:solidFill>
            <a:schemeClr val="accent1"/>
          </a:solidFill>
          <a:ln/>
        </p:spPr>
      </p:sp>
      <p:sp>
        <p:nvSpPr>
          <p:cNvPr id="28" name="SW-OPS label"/>
          <p:cNvSpPr txBox="1"/>
          <p:nvPr/>
        </p:nvSpPr>
        <p:spPr>
          <a:xfrm>
            <a:off x="3657600" y="2423160"/>
            <a:ext cx="1828800" cy="457200"/>
          </a:xfrm>
          <a:prstGeom prst="rect">
            <a:avLst/>
          </a:prstGeom>
          <a:noFill/>
          <a:ln/>
        </p:spPr>
        <p:txBody>
          <a:bodyPr wrap="square" lIns="0" tIns="0" rIns="0" bIns="0" rtlCol="0" anchor="ctr"/>
          <a:lstStyle/>
          <a:p>
            <a:pPr algn="ctr" indent="0" marL="0">
              <a:buNone/>
            </a:pPr>
            <a:r>
              <a:rPr lang="en-US" sz="1200" b="1" dirty="0">
                <a:solidFill>
                  <a:schemeClr val="bg1"/>
                </a:solidFill>
              </a:rPr>
              <a:t>SW-OPS  .66</a:t>
            </a:r>
            <a:endParaRPr lang="en-US" sz="1400" dirty="0"/>
          </a:p>
        </p:txBody>
      </p:sp>
      <p:sp>
        <p:nvSpPr>
          <p:cNvPr id="29" name="PC-OPS1 box"/>
          <p:cNvSpPr/>
          <p:nvPr/>
        </p:nvSpPr>
        <p:spPr>
          <a:xfrm>
            <a:off x="3246120" y="3383280"/>
            <a:ext cx="822960" cy="548640"/>
          </a:xfrm>
          <a:prstGeom prst="roundRect">
            <a:avLst>
              <a:gd name="adj" fmla="val 13333"/>
            </a:avLst>
          </a:prstGeom>
          <a:solidFill>
            <a:schemeClr val="bg2"/>
          </a:solidFill>
          <a:ln/>
        </p:spPr>
      </p:sp>
      <p:sp>
        <p:nvSpPr>
          <p:cNvPr id="30" name="PC-OPS1 label"/>
          <p:cNvSpPr txBox="1"/>
          <p:nvPr/>
        </p:nvSpPr>
        <p:spPr>
          <a:xfrm>
            <a:off x="32461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PC-OPS1</a:t>
            </a:r>
            <a:endParaRPr lang="en-US" sz="1400" dirty="0"/>
          </a:p>
          <a:p>
            <a:pPr algn="ctr" indent="0" marL="0">
              <a:buNone/>
            </a:pPr>
            <a:r>
              <a:rPr lang="en-US" sz="1000" dirty="0">
                <a:solidFill>
                  <a:schemeClr val="accent1"/>
                </a:solidFill>
              </a:rPr>
              <a:t>.70</a:t>
            </a:r>
            <a:endParaRPr lang="en-US" sz="1400" dirty="0"/>
          </a:p>
        </p:txBody>
      </p:sp>
      <p:sp>
        <p:nvSpPr>
          <p:cNvPr id="31" name="PC-OPS2 box"/>
          <p:cNvSpPr/>
          <p:nvPr/>
        </p:nvSpPr>
        <p:spPr>
          <a:xfrm>
            <a:off x="4160520" y="3383280"/>
            <a:ext cx="822960" cy="548640"/>
          </a:xfrm>
          <a:prstGeom prst="roundRect">
            <a:avLst>
              <a:gd name="adj" fmla="val 13333"/>
            </a:avLst>
          </a:prstGeom>
          <a:solidFill>
            <a:schemeClr val="bg2"/>
          </a:solidFill>
          <a:ln/>
        </p:spPr>
      </p:sp>
      <p:sp>
        <p:nvSpPr>
          <p:cNvPr id="32" name="PC-OPS2 label"/>
          <p:cNvSpPr txBox="1"/>
          <p:nvPr/>
        </p:nvSpPr>
        <p:spPr>
          <a:xfrm>
            <a:off x="41605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PC-OPS2</a:t>
            </a:r>
            <a:endParaRPr lang="en-US" sz="1400" dirty="0"/>
          </a:p>
          <a:p>
            <a:pPr algn="ctr" indent="0" marL="0">
              <a:buNone/>
            </a:pPr>
            <a:r>
              <a:rPr lang="en-US" sz="1000" dirty="0">
                <a:solidFill>
                  <a:schemeClr val="accent1"/>
                </a:solidFill>
              </a:rPr>
              <a:t>.71</a:t>
            </a:r>
            <a:endParaRPr lang="en-US" sz="1400" dirty="0"/>
          </a:p>
        </p:txBody>
      </p:sp>
      <p:sp>
        <p:nvSpPr>
          <p:cNvPr id="33" name="Laptop-OPS box"/>
          <p:cNvSpPr/>
          <p:nvPr/>
        </p:nvSpPr>
        <p:spPr>
          <a:xfrm>
            <a:off x="5074920" y="3383280"/>
            <a:ext cx="822960" cy="548640"/>
          </a:xfrm>
          <a:prstGeom prst="roundRect">
            <a:avLst>
              <a:gd name="adj" fmla="val 13333"/>
            </a:avLst>
          </a:prstGeom>
          <a:solidFill>
            <a:schemeClr val="bg2"/>
          </a:solidFill>
          <a:ln/>
        </p:spPr>
      </p:sp>
      <p:sp>
        <p:nvSpPr>
          <p:cNvPr id="34" name="Laptop-OPS label"/>
          <p:cNvSpPr txBox="1"/>
          <p:nvPr/>
        </p:nvSpPr>
        <p:spPr>
          <a:xfrm>
            <a:off x="50749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Laptop-OPS</a:t>
            </a:r>
            <a:endParaRPr lang="en-US" sz="1400" dirty="0"/>
          </a:p>
          <a:p>
            <a:pPr algn="ctr" indent="0" marL="0">
              <a:buNone/>
            </a:pPr>
            <a:r>
              <a:rPr lang="en-US" sz="1000" dirty="0">
                <a:solidFill>
                  <a:schemeClr val="accent1"/>
                </a:solidFill>
              </a:rPr>
              <a:t>.72</a:t>
            </a:r>
            <a:endParaRPr lang="en-US" sz="1400" dirty="0"/>
          </a:p>
        </p:txBody>
      </p:sp>
      <p:sp>
        <p:nvSpPr>
          <p:cNvPr id="35" name="SW-OPS LAN label"/>
          <p:cNvSpPr txBox="1"/>
          <p:nvPr/>
        </p:nvSpPr>
        <p:spPr>
          <a:xfrm>
            <a:off x="3200400" y="4023360"/>
            <a:ext cx="2743200" cy="320040"/>
          </a:xfrm>
          <a:prstGeom prst="rect">
            <a:avLst/>
          </a:prstGeom>
          <a:noFill/>
          <a:ln/>
        </p:spPr>
        <p:txBody>
          <a:bodyPr wrap="square" lIns="0" tIns="0" rIns="0" bIns="0" rtlCol="0" anchor="t"/>
          <a:lstStyle/>
          <a:p>
            <a:pPr algn="ctr" indent="0" marL="0">
              <a:buNone/>
            </a:pPr>
            <a:r>
              <a:rPr lang="en-US" sz="1200" b="1" dirty="0">
                <a:solidFill>
                  <a:schemeClr val="tx2"/>
                </a:solidFill>
              </a:rPr>
              <a:t>LAN 2 Operations · 192.168.10.64/27</a:t>
            </a:r>
            <a:endParaRPr lang="en-US" sz="1200" dirty="0"/>
          </a:p>
        </p:txBody>
      </p:sp>
      <p:sp>
        <p:nvSpPr>
          <p:cNvPr id="36" name="SW-IT box"/>
          <p:cNvSpPr/>
          <p:nvPr/>
        </p:nvSpPr>
        <p:spPr>
          <a:xfrm>
            <a:off x="6400800" y="2423160"/>
            <a:ext cx="1828800" cy="457200"/>
          </a:xfrm>
          <a:prstGeom prst="roundRect">
            <a:avLst>
              <a:gd name="adj" fmla="val 16000"/>
            </a:avLst>
          </a:prstGeom>
          <a:solidFill>
            <a:schemeClr val="accent1"/>
          </a:solidFill>
          <a:ln/>
        </p:spPr>
      </p:sp>
      <p:sp>
        <p:nvSpPr>
          <p:cNvPr id="37" name="SW-IT label"/>
          <p:cNvSpPr txBox="1"/>
          <p:nvPr/>
        </p:nvSpPr>
        <p:spPr>
          <a:xfrm>
            <a:off x="6400800" y="2423160"/>
            <a:ext cx="1828800" cy="457200"/>
          </a:xfrm>
          <a:prstGeom prst="rect">
            <a:avLst/>
          </a:prstGeom>
          <a:noFill/>
          <a:ln/>
        </p:spPr>
        <p:txBody>
          <a:bodyPr wrap="square" lIns="0" tIns="0" rIns="0" bIns="0" rtlCol="0" anchor="ctr"/>
          <a:lstStyle/>
          <a:p>
            <a:pPr algn="ctr" indent="0" marL="0">
              <a:buNone/>
            </a:pPr>
            <a:r>
              <a:rPr lang="en-US" sz="1200" b="1" dirty="0">
                <a:solidFill>
                  <a:schemeClr val="bg1"/>
                </a:solidFill>
              </a:rPr>
              <a:t>SW-IT  .98</a:t>
            </a:r>
            <a:endParaRPr lang="en-US" sz="1400" dirty="0"/>
          </a:p>
        </p:txBody>
      </p:sp>
      <p:sp>
        <p:nvSpPr>
          <p:cNvPr id="38" name="Server-IT box"/>
          <p:cNvSpPr/>
          <p:nvPr/>
        </p:nvSpPr>
        <p:spPr>
          <a:xfrm>
            <a:off x="5989320" y="3383280"/>
            <a:ext cx="822960" cy="548640"/>
          </a:xfrm>
          <a:prstGeom prst="roundRect">
            <a:avLst>
              <a:gd name="adj" fmla="val 13333"/>
            </a:avLst>
          </a:prstGeom>
          <a:solidFill>
            <a:schemeClr val="bg2"/>
          </a:solidFill>
          <a:ln/>
        </p:spPr>
      </p:sp>
      <p:sp>
        <p:nvSpPr>
          <p:cNvPr id="39" name="Server-IT label"/>
          <p:cNvSpPr txBox="1"/>
          <p:nvPr/>
        </p:nvSpPr>
        <p:spPr>
          <a:xfrm>
            <a:off x="59893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Server-IT</a:t>
            </a:r>
            <a:endParaRPr lang="en-US" sz="1400" dirty="0"/>
          </a:p>
          <a:p>
            <a:pPr algn="ctr" indent="0" marL="0">
              <a:buNone/>
            </a:pPr>
            <a:r>
              <a:rPr lang="en-US" sz="1000" dirty="0">
                <a:solidFill>
                  <a:schemeClr val="accent1"/>
                </a:solidFill>
              </a:rPr>
              <a:t>.100</a:t>
            </a:r>
            <a:endParaRPr lang="en-US" sz="1400" dirty="0"/>
          </a:p>
        </p:txBody>
      </p:sp>
      <p:sp>
        <p:nvSpPr>
          <p:cNvPr id="40" name="PC-IT1 box"/>
          <p:cNvSpPr/>
          <p:nvPr/>
        </p:nvSpPr>
        <p:spPr>
          <a:xfrm>
            <a:off x="6903720" y="3383280"/>
            <a:ext cx="822960" cy="548640"/>
          </a:xfrm>
          <a:prstGeom prst="roundRect">
            <a:avLst>
              <a:gd name="adj" fmla="val 13333"/>
            </a:avLst>
          </a:prstGeom>
          <a:solidFill>
            <a:schemeClr val="bg2"/>
          </a:solidFill>
          <a:ln/>
        </p:spPr>
      </p:sp>
      <p:sp>
        <p:nvSpPr>
          <p:cNvPr id="41" name="PC-IT1 label"/>
          <p:cNvSpPr txBox="1"/>
          <p:nvPr/>
        </p:nvSpPr>
        <p:spPr>
          <a:xfrm>
            <a:off x="69037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PC-IT1</a:t>
            </a:r>
            <a:endParaRPr lang="en-US" sz="1400" dirty="0"/>
          </a:p>
          <a:p>
            <a:pPr algn="ctr" indent="0" marL="0">
              <a:buNone/>
            </a:pPr>
            <a:r>
              <a:rPr lang="en-US" sz="1000" dirty="0">
                <a:solidFill>
                  <a:schemeClr val="accent1"/>
                </a:solidFill>
              </a:rPr>
              <a:t>.101</a:t>
            </a:r>
            <a:endParaRPr lang="en-US" sz="1400" dirty="0"/>
          </a:p>
        </p:txBody>
      </p:sp>
      <p:sp>
        <p:nvSpPr>
          <p:cNvPr id="42" name="PC-IT2 box"/>
          <p:cNvSpPr/>
          <p:nvPr/>
        </p:nvSpPr>
        <p:spPr>
          <a:xfrm>
            <a:off x="7818120" y="3383280"/>
            <a:ext cx="822960" cy="548640"/>
          </a:xfrm>
          <a:prstGeom prst="roundRect">
            <a:avLst>
              <a:gd name="adj" fmla="val 13333"/>
            </a:avLst>
          </a:prstGeom>
          <a:solidFill>
            <a:schemeClr val="bg2"/>
          </a:solidFill>
          <a:ln/>
        </p:spPr>
      </p:sp>
      <p:sp>
        <p:nvSpPr>
          <p:cNvPr id="43" name="PC-IT2 label"/>
          <p:cNvSpPr txBox="1"/>
          <p:nvPr/>
        </p:nvSpPr>
        <p:spPr>
          <a:xfrm>
            <a:off x="7818120" y="3383280"/>
            <a:ext cx="822960" cy="548640"/>
          </a:xfrm>
          <a:prstGeom prst="rect">
            <a:avLst/>
          </a:prstGeom>
          <a:noFill/>
          <a:ln/>
        </p:spPr>
        <p:txBody>
          <a:bodyPr wrap="square" lIns="0" tIns="0" rIns="0" bIns="0" rtlCol="0" anchor="ctr"/>
          <a:lstStyle/>
          <a:p>
            <a:pPr algn="ctr" indent="0" marL="0">
              <a:buNone/>
            </a:pPr>
            <a:r>
              <a:rPr lang="en-US" sz="1000" b="1" dirty="0">
                <a:solidFill>
                  <a:schemeClr val="tx1"/>
                </a:solidFill>
              </a:rPr>
              <a:t>PC-IT2</a:t>
            </a:r>
            <a:endParaRPr lang="en-US" sz="1400" dirty="0"/>
          </a:p>
          <a:p>
            <a:pPr algn="ctr" indent="0" marL="0">
              <a:buNone/>
            </a:pPr>
            <a:r>
              <a:rPr lang="en-US" sz="1000" dirty="0">
                <a:solidFill>
                  <a:schemeClr val="accent1"/>
                </a:solidFill>
              </a:rPr>
              <a:t>.102</a:t>
            </a:r>
            <a:endParaRPr lang="en-US" sz="1400" dirty="0"/>
          </a:p>
        </p:txBody>
      </p:sp>
      <p:sp>
        <p:nvSpPr>
          <p:cNvPr id="44" name="SW-IT LAN label"/>
          <p:cNvSpPr txBox="1"/>
          <p:nvPr/>
        </p:nvSpPr>
        <p:spPr>
          <a:xfrm>
            <a:off x="5943600" y="4023360"/>
            <a:ext cx="2743200" cy="320040"/>
          </a:xfrm>
          <a:prstGeom prst="rect">
            <a:avLst/>
          </a:prstGeom>
          <a:noFill/>
          <a:ln/>
        </p:spPr>
        <p:txBody>
          <a:bodyPr wrap="square" lIns="0" tIns="0" rIns="0" bIns="0" rtlCol="0" anchor="t"/>
          <a:lstStyle/>
          <a:p>
            <a:pPr algn="ctr" indent="0" marL="0">
              <a:buNone/>
            </a:pPr>
            <a:r>
              <a:rPr lang="en-US" sz="1200" b="1" dirty="0">
                <a:solidFill>
                  <a:schemeClr val="tx2"/>
                </a:solidFill>
              </a:rPr>
              <a:t>LAN 3 IT · 192.168.10.96/28</a:t>
            </a:r>
            <a:endParaRPr lang="en-US" sz="1200" dirty="0"/>
          </a:p>
        </p:txBody>
      </p:sp>
      <p:sp>
        <p:nvSpPr>
          <p:cNvPr id="45" name="Topology legend"/>
          <p:cNvSpPr txBox="1"/>
          <p:nvPr/>
        </p:nvSpPr>
        <p:spPr>
          <a:xfrm>
            <a:off x="457200" y="4434840"/>
            <a:ext cx="7680960" cy="274320"/>
          </a:xfrm>
          <a:prstGeom prst="rect">
            <a:avLst/>
          </a:prstGeom>
          <a:noFill/>
          <a:ln/>
        </p:spPr>
        <p:txBody>
          <a:bodyPr wrap="square" lIns="0" tIns="0" rIns="0" bIns="0" rtlCol="0" anchor="t"/>
          <a:lstStyle/>
          <a:p>
            <a:pPr indent="0" marL="0">
              <a:buNone/>
            </a:pPr>
            <a:r>
              <a:rPr lang="en-US" sz="1100" dirty="0">
                <a:solidFill>
                  <a:schemeClr val="accent5"/>
                </a:solidFill>
              </a:rPr>
              <a:t>All 12 links are straight-through UTP · switch uplinks use Gi0/1 · hosts use Fa0/1 to Fa0/3 · host addresses are 192.168.10.x</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Subnetting: VLSM from one /24</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188720"/>
                <a:gridCol w="640080"/>
                <a:gridCol w="1920240"/>
                <a:gridCol w="1280160"/>
                <a:gridCol w="1828800"/>
                <a:gridCol w="1371600"/>
              </a:tblGrid>
              <a:tr h="411480">
                <a:tc>
                  <a:txBody>
                    <a:bodyPr/>
                    <a:lstStyle/>
                    <a:p>
                      <a:pPr indent="0" marL="0">
                        <a:buNone/>
                      </a:pPr>
                      <a:r>
                        <a:rPr lang="en-US" sz="1200" b="1" dirty="0">
                          <a:solidFill>
                            <a:schemeClr val="bg1"/>
                          </a:solidFill>
                        </a:rPr>
                        <a:t>LAN</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Hosts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Prefix and mask</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Network</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Usable range</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Broadcast</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r>
              <a:tr h="411480">
                <a:tc>
                  <a:txBody>
                    <a:bodyPr/>
                    <a:lstStyle/>
                    <a:p>
                      <a:pPr indent="0" marL="0">
                        <a:buNone/>
                      </a:pPr>
                      <a:r>
                        <a:rPr lang="en-US" sz="1200" b="1" dirty="0">
                          <a:solidFill>
                            <a:schemeClr val="tx1"/>
                          </a:solidFill>
                        </a:rPr>
                        <a:t>LAN 1 Admin</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50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/26 · 255.255.255.192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192.168.10.1 – .62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192.168.10.63</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11480">
                <a:tc>
                  <a:txBody>
                    <a:bodyPr/>
                    <a:lstStyle/>
                    <a:p>
                      <a:pPr indent="0" marL="0">
                        <a:buNone/>
                      </a:pPr>
                      <a:r>
                        <a:rPr lang="en-US" sz="1200" b="1" dirty="0">
                          <a:solidFill>
                            <a:schemeClr val="tx1"/>
                          </a:solidFill>
                        </a:rPr>
                        <a:t>LAN 2 Ops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25</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/27 · 255.255.255.224</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192.168.10.64</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192.168.10.65 – .94</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192.168.10.95</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11480">
                <a:tc>
                  <a:txBody>
                    <a:bodyPr/>
                    <a:lstStyle/>
                    <a:p>
                      <a:pPr indent="0" marL="0">
                        <a:buNone/>
                      </a:pPr>
                      <a:r>
                        <a:rPr lang="en-US" sz="1200" b="1" dirty="0">
                          <a:solidFill>
                            <a:schemeClr val="tx1"/>
                          </a:solidFill>
                        </a:rPr>
                        <a:t>LAN 3 IT</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/28 · 255.255.255.240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192.168.10.96</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192.168.10.97 – .110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192.168.10.111</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5" name="Sizing card"/>
          <p:cNvSpPr/>
          <p:nvPr/>
        </p:nvSpPr>
        <p:spPr>
          <a:xfrm>
            <a:off x="457200" y="3108960"/>
            <a:ext cx="4023360" cy="1463040"/>
          </a:xfrm>
          <a:prstGeom prst="roundRect">
            <a:avLst>
              <a:gd name="adj" fmla="val 5000"/>
            </a:avLst>
          </a:prstGeom>
          <a:solidFill>
            <a:schemeClr val="bg2"/>
          </a:solidFill>
          <a:ln/>
        </p:spPr>
      </p:sp>
      <p:sp>
        <p:nvSpPr>
          <p:cNvPr id="6" name="Sizing text"/>
          <p:cNvSpPr txBox="1"/>
          <p:nvPr/>
        </p:nvSpPr>
        <p:spPr>
          <a:xfrm>
            <a:off x="640080" y="3246120"/>
            <a:ext cx="3657600" cy="11887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How we sized each block</a:t>
            </a:r>
            <a:endParaRPr lang="en-US" sz="1400" dirty="0"/>
          </a:p>
          <a:p>
            <a:pPr indent="0" marL="0">
              <a:buNone/>
            </a:pPr>
            <a:r>
              <a:rPr lang="en-US" sz="1400" dirty="0">
                <a:solidFill>
                  <a:schemeClr val="tx1"/>
                </a:solidFill>
              </a:rPr>
              <a:t>Smallest h where 2^h − 2 ≥ hosts. Example: 50 hosts need h = 6, so 62 usable and a /26.</a:t>
            </a:r>
            <a:endParaRPr lang="en-US" sz="1400" dirty="0"/>
          </a:p>
        </p:txBody>
      </p:sp>
      <p:sp>
        <p:nvSpPr>
          <p:cNvPr id="7" name="Growth card"/>
          <p:cNvSpPr/>
          <p:nvPr/>
        </p:nvSpPr>
        <p:spPr>
          <a:xfrm>
            <a:off x="4663440" y="3108960"/>
            <a:ext cx="4023360" cy="1463040"/>
          </a:xfrm>
          <a:prstGeom prst="roundRect">
            <a:avLst>
              <a:gd name="adj" fmla="val 5000"/>
            </a:avLst>
          </a:prstGeom>
          <a:solidFill>
            <a:schemeClr val="bg2"/>
          </a:solidFill>
          <a:ln/>
        </p:spPr>
      </p:sp>
      <p:sp>
        <p:nvSpPr>
          <p:cNvPr id="8" name="Growth text"/>
          <p:cNvSpPr txBox="1"/>
          <p:nvPr/>
        </p:nvSpPr>
        <p:spPr>
          <a:xfrm>
            <a:off x="4846320" y="3246120"/>
            <a:ext cx="3657600" cy="11887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Room to grow</a:t>
            </a:r>
            <a:endParaRPr lang="en-US" sz="1400" dirty="0"/>
          </a:p>
          <a:p>
            <a:pPr indent="0" marL="0">
              <a:buNone/>
            </a:pPr>
            <a:r>
              <a:rPr lang="en-US" sz="1400" dirty="0">
                <a:solidFill>
                  <a:schemeClr val="tx1"/>
                </a:solidFill>
              </a:rPr>
              <a:t>192.168.10.112 to 192.168.10.255 stays unused, reserved for future LANs. No addresses are wasted.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Addressing plan: IPv4 and IPv6 dual stack</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1554480"/>
                <a:gridCol w="1097280"/>
                <a:gridCol w="1005840"/>
                <a:gridCol w="1828800"/>
              </a:tblGrid>
              <a:tr h="457200">
                <a:tc>
                  <a:txBody>
                    <a:bodyPr/>
                    <a:lstStyle/>
                    <a:p>
                      <a:pPr indent="0" marL="0">
                        <a:buNone/>
                      </a:pPr>
                      <a:r>
                        <a:rPr lang="en-US" sz="1200" b="1" dirty="0">
                          <a:solidFill>
                            <a:schemeClr val="bg1"/>
                          </a:solidFill>
                        </a:rPr>
                        <a:t>Device</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IPv4 (192.168.10.x)</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Prefix</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Gateway</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IPv6 (2001:DB8:ACAD:…)</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R-OFFICE G0/0 · G0/1 · G0/2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 · .65 · .97</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/26 · /27 · /28</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n/a</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10::1 · 20::1 · 30::1</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57200">
                <a:tc>
                  <a:txBody>
                    <a:bodyPr/>
                    <a:lstStyle/>
                    <a:p>
                      <a:pPr indent="0" marL="0">
                        <a:buNone/>
                      </a:pPr>
                      <a:r>
                        <a:rPr lang="en-US" sz="1200" b="1" dirty="0">
                          <a:solidFill>
                            <a:schemeClr val="tx1"/>
                          </a:solidFill>
                        </a:rPr>
                        <a:t>SW-ADMIN · SW-OPS · SW-IT (VLAN 1)</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 · .66 · .98</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/26 · /27 · /28</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 · .65 · .97</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n/a</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57200">
                <a:tc>
                  <a:txBody>
                    <a:bodyPr/>
                    <a:lstStyle/>
                    <a:p>
                      <a:pPr indent="0" marL="0">
                        <a:buNone/>
                      </a:pPr>
                      <a:r>
                        <a:rPr lang="en-US" sz="1200" b="1" dirty="0">
                          <a:solidFill>
                            <a:schemeClr val="tx1"/>
                          </a:solidFill>
                        </a:rPr>
                        <a:t>PC-ADM1, PC-ADM2, Printer-ADM</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.10 · .11 · .20</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/26</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10::10 · 10::11</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57200">
                <a:tc>
                  <a:txBody>
                    <a:bodyPr/>
                    <a:lstStyle/>
                    <a:p>
                      <a:pPr indent="0" marL="0">
                        <a:buNone/>
                      </a:pPr>
                      <a:r>
                        <a:rPr lang="en-US" sz="1200" b="1" dirty="0">
                          <a:solidFill>
                            <a:schemeClr val="tx1"/>
                          </a:solidFill>
                        </a:rPr>
                        <a:t>PC-OPS1, PC-OPS2, Laptop-OPS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.70 · .71 · .72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/27</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.65</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20::70 · ::71 · ::72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457200">
                <a:tc>
                  <a:txBody>
                    <a:bodyPr/>
                    <a:lstStyle/>
                    <a:p>
                      <a:pPr indent="0" marL="0">
                        <a:buNone/>
                      </a:pPr>
                      <a:r>
                        <a:rPr lang="en-US" sz="1200" b="1" dirty="0">
                          <a:solidFill>
                            <a:schemeClr val="tx1"/>
                          </a:solidFill>
                        </a:rPr>
                        <a:t>Server-IT, PC-IT1, PC-IT2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.100 · .101 · .102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/28</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.97</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30::100 · ::101 · ::102</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5" name="DNS note card"/>
          <p:cNvSpPr/>
          <p:nvPr/>
        </p:nvSpPr>
        <p:spPr>
          <a:xfrm>
            <a:off x="457200" y="4114800"/>
            <a:ext cx="8229600" cy="502920"/>
          </a:xfrm>
          <a:prstGeom prst="roundRect">
            <a:avLst>
              <a:gd name="adj" fmla="val 14545"/>
            </a:avLst>
          </a:prstGeom>
          <a:solidFill>
            <a:schemeClr val="bg2"/>
          </a:solidFill>
          <a:ln/>
        </p:spPr>
      </p:sp>
      <p:sp>
        <p:nvSpPr>
          <p:cNvPr id="6" name="DNS note"/>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400" dirty="0">
                <a:solidFill>
                  <a:schemeClr val="tx1"/>
                </a:solidFill>
              </a:rPr>
              <a:t>DNS server for every device: 192.168.10.100 (Server-IT) · domain office.local · static addressing everywhere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Build: devices, cables, end devices</a:t>
            </a:r>
            <a:endParaRPr lang="en-US" sz="3000" dirty="0"/>
          </a:p>
        </p:txBody>
      </p:sp>
      <p:sp>
        <p:nvSpPr>
          <p:cNvPr id="4" name="Stat card 1"/>
          <p:cNvSpPr/>
          <p:nvPr/>
        </p:nvSpPr>
        <p:spPr>
          <a:xfrm>
            <a:off x="457200" y="1188720"/>
            <a:ext cx="1920240" cy="1188720"/>
          </a:xfrm>
          <a:prstGeom prst="roundRect">
            <a:avLst>
              <a:gd name="adj" fmla="val 6154"/>
            </a:avLst>
          </a:prstGeom>
          <a:solidFill>
            <a:schemeClr val="bg2"/>
          </a:solidFill>
          <a:ln/>
        </p:spPr>
      </p:sp>
      <p:sp>
        <p:nvSpPr>
          <p:cNvPr id="5" name="Stat number 1"/>
          <p:cNvSpPr txBox="1"/>
          <p:nvPr/>
        </p:nvSpPr>
        <p:spPr>
          <a:xfrm>
            <a:off x="594360" y="1234440"/>
            <a:ext cx="1645920" cy="502920"/>
          </a:xfrm>
          <a:prstGeom prst="rect">
            <a:avLst/>
          </a:prstGeom>
          <a:noFill/>
          <a:ln/>
        </p:spPr>
        <p:txBody>
          <a:bodyPr wrap="square" lIns="0" tIns="0" rIns="0" bIns="0" rtlCol="0" anchor="t"/>
          <a:lstStyle/>
          <a:p>
            <a:pPr indent="0" marL="0">
              <a:buNone/>
            </a:pPr>
            <a:r>
              <a:rPr lang="en-US" sz="3200" b="1" dirty="0">
                <a:solidFill>
                  <a:schemeClr val="accent1"/>
                </a:solidFill>
              </a:rPr>
              <a:t>13</a:t>
            </a:r>
            <a:endParaRPr lang="en-US" sz="3200" dirty="0"/>
          </a:p>
        </p:txBody>
      </p:sp>
      <p:sp>
        <p:nvSpPr>
          <p:cNvPr id="6" name="Stat label 1"/>
          <p:cNvSpPr txBox="1"/>
          <p:nvPr/>
        </p:nvSpPr>
        <p:spPr>
          <a:xfrm>
            <a:off x="594360" y="1737360"/>
            <a:ext cx="1645920" cy="594360"/>
          </a:xfrm>
          <a:prstGeom prst="rect">
            <a:avLst/>
          </a:prstGeom>
          <a:noFill/>
          <a:ln/>
        </p:spPr>
        <p:txBody>
          <a:bodyPr wrap="square" lIns="0" tIns="0" rIns="0" bIns="0" rtlCol="0" anchor="t"/>
          <a:lstStyle/>
          <a:p>
            <a:pPr indent="0" marL="0">
              <a:buNone/>
            </a:pPr>
            <a:r>
              <a:rPr lang="en-US" sz="1200" dirty="0">
                <a:solidFill>
                  <a:schemeClr val="tx1"/>
                </a:solidFill>
              </a:rPr>
              <a:t>devices: 1 router, 3 switches, 9 end devices</a:t>
            </a:r>
            <a:endParaRPr lang="en-US" sz="1200" dirty="0"/>
          </a:p>
        </p:txBody>
      </p:sp>
      <p:sp>
        <p:nvSpPr>
          <p:cNvPr id="7" name="Stat card 2"/>
          <p:cNvSpPr/>
          <p:nvPr/>
        </p:nvSpPr>
        <p:spPr>
          <a:xfrm>
            <a:off x="2560320" y="1188720"/>
            <a:ext cx="1920240" cy="1188720"/>
          </a:xfrm>
          <a:prstGeom prst="roundRect">
            <a:avLst>
              <a:gd name="adj" fmla="val 6154"/>
            </a:avLst>
          </a:prstGeom>
          <a:solidFill>
            <a:schemeClr val="bg2"/>
          </a:solidFill>
          <a:ln/>
        </p:spPr>
      </p:sp>
      <p:sp>
        <p:nvSpPr>
          <p:cNvPr id="8" name="Stat number 2"/>
          <p:cNvSpPr txBox="1"/>
          <p:nvPr/>
        </p:nvSpPr>
        <p:spPr>
          <a:xfrm>
            <a:off x="2697480" y="1234440"/>
            <a:ext cx="1645920" cy="502920"/>
          </a:xfrm>
          <a:prstGeom prst="rect">
            <a:avLst/>
          </a:prstGeom>
          <a:noFill/>
          <a:ln/>
        </p:spPr>
        <p:txBody>
          <a:bodyPr wrap="square" lIns="0" tIns="0" rIns="0" bIns="0" rtlCol="0" anchor="t"/>
          <a:lstStyle/>
          <a:p>
            <a:pPr indent="0" marL="0">
              <a:buNone/>
            </a:pPr>
            <a:r>
              <a:rPr lang="en-US" sz="3200" b="1" dirty="0">
                <a:solidFill>
                  <a:schemeClr val="accent1"/>
                </a:solidFill>
              </a:rPr>
              <a:t>12</a:t>
            </a:r>
            <a:endParaRPr lang="en-US" sz="3200" dirty="0"/>
          </a:p>
        </p:txBody>
      </p:sp>
      <p:sp>
        <p:nvSpPr>
          <p:cNvPr id="9" name="Stat label 2"/>
          <p:cNvSpPr txBox="1"/>
          <p:nvPr/>
        </p:nvSpPr>
        <p:spPr>
          <a:xfrm>
            <a:off x="2697480" y="1737360"/>
            <a:ext cx="1645920" cy="594360"/>
          </a:xfrm>
          <a:prstGeom prst="rect">
            <a:avLst/>
          </a:prstGeom>
          <a:noFill/>
          <a:ln/>
        </p:spPr>
        <p:txBody>
          <a:bodyPr wrap="square" lIns="0" tIns="0" rIns="0" bIns="0" rtlCol="0" anchor="t"/>
          <a:lstStyle/>
          <a:p>
            <a:pPr indent="0" marL="0">
              <a:buNone/>
            </a:pPr>
            <a:r>
              <a:rPr lang="en-US" sz="1200" dirty="0">
                <a:solidFill>
                  <a:schemeClr val="tx1"/>
                </a:solidFill>
              </a:rPr>
              <a:t>straight-through cables</a:t>
            </a:r>
            <a:endParaRPr lang="en-US" sz="1200" dirty="0"/>
          </a:p>
        </p:txBody>
      </p:sp>
      <p:sp>
        <p:nvSpPr>
          <p:cNvPr id="10" name="Stat card 3"/>
          <p:cNvSpPr/>
          <p:nvPr/>
        </p:nvSpPr>
        <p:spPr>
          <a:xfrm>
            <a:off x="4663440" y="1188720"/>
            <a:ext cx="1920240" cy="1188720"/>
          </a:xfrm>
          <a:prstGeom prst="roundRect">
            <a:avLst>
              <a:gd name="adj" fmla="val 6154"/>
            </a:avLst>
          </a:prstGeom>
          <a:solidFill>
            <a:schemeClr val="bg2"/>
          </a:solidFill>
          <a:ln/>
        </p:spPr>
      </p:sp>
      <p:sp>
        <p:nvSpPr>
          <p:cNvPr id="11" name="Stat number 3"/>
          <p:cNvSpPr txBox="1"/>
          <p:nvPr/>
        </p:nvSpPr>
        <p:spPr>
          <a:xfrm>
            <a:off x="4800600" y="1234440"/>
            <a:ext cx="1645920" cy="502920"/>
          </a:xfrm>
          <a:prstGeom prst="rect">
            <a:avLst/>
          </a:prstGeom>
          <a:noFill/>
          <a:ln/>
        </p:spPr>
        <p:txBody>
          <a:bodyPr wrap="square" lIns="0" tIns="0" rIns="0" bIns="0" rtlCol="0" anchor="t"/>
          <a:lstStyle/>
          <a:p>
            <a:pPr indent="0" marL="0">
              <a:buNone/>
            </a:pPr>
            <a:r>
              <a:rPr lang="en-US" sz="3200" b="1" dirty="0">
                <a:solidFill>
                  <a:schemeClr val="accent1"/>
                </a:solidFill>
              </a:rPr>
              <a:t>3</a:t>
            </a:r>
            <a:endParaRPr lang="en-US" sz="3200" dirty="0"/>
          </a:p>
        </p:txBody>
      </p:sp>
      <p:sp>
        <p:nvSpPr>
          <p:cNvPr id="12" name="Stat label 3"/>
          <p:cNvSpPr txBox="1"/>
          <p:nvPr/>
        </p:nvSpPr>
        <p:spPr>
          <a:xfrm>
            <a:off x="4800600" y="1737360"/>
            <a:ext cx="1645920" cy="594360"/>
          </a:xfrm>
          <a:prstGeom prst="rect">
            <a:avLst/>
          </a:prstGeom>
          <a:noFill/>
          <a:ln/>
        </p:spPr>
        <p:txBody>
          <a:bodyPr wrap="square" lIns="0" tIns="0" rIns="0" bIns="0" rtlCol="0" anchor="t"/>
          <a:lstStyle/>
          <a:p>
            <a:pPr indent="0" marL="0">
              <a:buNone/>
            </a:pPr>
            <a:r>
              <a:rPr lang="en-US" sz="1200" dirty="0">
                <a:solidFill>
                  <a:schemeClr val="tx1"/>
                </a:solidFill>
              </a:rPr>
              <a:t>LANs, three different masks</a:t>
            </a:r>
            <a:endParaRPr lang="en-US" sz="1200" dirty="0"/>
          </a:p>
        </p:txBody>
      </p:sp>
      <p:sp>
        <p:nvSpPr>
          <p:cNvPr id="13" name="Stat card 4"/>
          <p:cNvSpPr/>
          <p:nvPr/>
        </p:nvSpPr>
        <p:spPr>
          <a:xfrm>
            <a:off x="6766560" y="1188720"/>
            <a:ext cx="1920240" cy="1188720"/>
          </a:xfrm>
          <a:prstGeom prst="roundRect">
            <a:avLst>
              <a:gd name="adj" fmla="val 6154"/>
            </a:avLst>
          </a:prstGeom>
          <a:solidFill>
            <a:schemeClr val="bg2"/>
          </a:solidFill>
          <a:ln/>
        </p:spPr>
      </p:sp>
      <p:sp>
        <p:nvSpPr>
          <p:cNvPr id="14" name="Stat number 4"/>
          <p:cNvSpPr txBox="1"/>
          <p:nvPr/>
        </p:nvSpPr>
        <p:spPr>
          <a:xfrm>
            <a:off x="6903720" y="1234440"/>
            <a:ext cx="1645920" cy="502920"/>
          </a:xfrm>
          <a:prstGeom prst="rect">
            <a:avLst/>
          </a:prstGeom>
          <a:noFill/>
          <a:ln/>
        </p:spPr>
        <p:txBody>
          <a:bodyPr wrap="square" lIns="0" tIns="0" rIns="0" bIns="0" rtlCol="0" anchor="t"/>
          <a:lstStyle/>
          <a:p>
            <a:pPr indent="0" marL="0">
              <a:buNone/>
            </a:pPr>
            <a:r>
              <a:rPr lang="en-US" sz="3200" b="1" dirty="0">
                <a:solidFill>
                  <a:schemeClr val="accent1"/>
                </a:solidFill>
              </a:rPr>
              <a:t>2</a:t>
            </a:r>
            <a:endParaRPr lang="en-US" sz="3200" dirty="0"/>
          </a:p>
        </p:txBody>
      </p:sp>
      <p:sp>
        <p:nvSpPr>
          <p:cNvPr id="15" name="Stat label 4"/>
          <p:cNvSpPr txBox="1"/>
          <p:nvPr/>
        </p:nvSpPr>
        <p:spPr>
          <a:xfrm>
            <a:off x="6903720" y="1737360"/>
            <a:ext cx="1645920" cy="594360"/>
          </a:xfrm>
          <a:prstGeom prst="rect">
            <a:avLst/>
          </a:prstGeom>
          <a:noFill/>
          <a:ln/>
        </p:spPr>
        <p:txBody>
          <a:bodyPr wrap="square" lIns="0" tIns="0" rIns="0" bIns="0" rtlCol="0" anchor="t"/>
          <a:lstStyle/>
          <a:p>
            <a:pPr indent="0" marL="0">
              <a:buNone/>
            </a:pPr>
            <a:r>
              <a:rPr lang="en-US" sz="1200" dirty="0">
                <a:solidFill>
                  <a:schemeClr val="tx1"/>
                </a:solidFill>
              </a:rPr>
              <a:t>services: DNS and HTTP</a:t>
            </a:r>
            <a:endParaRPr lang="en-US" sz="1200" dirty="0"/>
          </a:p>
        </p:txBody>
      </p:sp>
      <p:sp>
        <p:nvSpPr>
          <p:cNvPr id="16" name="Text 13"/>
          <p:cNvSpPr txBox="1"/>
          <p:nvPr/>
        </p:nvSpPr>
        <p:spPr>
          <a:xfrm>
            <a:off x="457200" y="2606040"/>
            <a:ext cx="4023360" cy="320040"/>
          </a:xfrm>
          <a:prstGeom prst="rect">
            <a:avLst/>
          </a:prstGeom>
          <a:noFill/>
          <a:ln/>
        </p:spPr>
        <p:txBody>
          <a:bodyPr wrap="square" lIns="0" tIns="0" rIns="0" bIns="0" rtlCol="0" anchor="t"/>
          <a:lstStyle/>
          <a:p>
            <a:pPr indent="0" marL="0">
              <a:buNone/>
            </a:pPr>
            <a:r>
              <a:rPr lang="en-US" sz="1800" b="1" dirty="0">
                <a:solidFill>
                  <a:schemeClr val="tx2"/>
                </a:solidFill>
              </a:rPr>
              <a:t>Physical build</a:t>
            </a:r>
            <a:endParaRPr lang="en-US" sz="1400" dirty="0"/>
          </a:p>
        </p:txBody>
      </p:sp>
      <p:sp>
        <p:nvSpPr>
          <p:cNvPr id="17" name="Text 14"/>
          <p:cNvSpPr txBox="1"/>
          <p:nvPr/>
        </p:nvSpPr>
        <p:spPr>
          <a:xfrm>
            <a:off x="457200" y="3017520"/>
            <a:ext cx="40233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Router 2911, switches 2960-24TT</a:t>
            </a:r>
            <a:endParaRPr lang="en-US" sz="1400" dirty="0"/>
          </a:p>
          <a:p>
            <a:pPr marL="342900" indent="-342900">
              <a:spcAft>
                <a:spcPts val="600"/>
              </a:spcAft>
              <a:buSzPct val="100000"/>
              <a:buChar char="•"/>
            </a:pPr>
            <a:r>
              <a:rPr lang="en-US" sz="1400" dirty="0">
                <a:solidFill>
                  <a:schemeClr val="tx1"/>
                </a:solidFill>
              </a:rPr>
              <a:t>Ports follow the port map exactly</a:t>
            </a:r>
            <a:endParaRPr lang="en-US" sz="1400" dirty="0"/>
          </a:p>
          <a:p>
            <a:pPr marL="342900" indent="-342900">
              <a:spcAft>
                <a:spcPts val="600"/>
              </a:spcAft>
              <a:buSzPct val="100000"/>
              <a:buChar char="•"/>
            </a:pPr>
            <a:r>
              <a:rPr lang="en-US" sz="1400" dirty="0">
                <a:solidFill>
                  <a:schemeClr val="tx1"/>
                </a:solidFill>
              </a:rPr>
              <a:t>End-device links green; router links red until no shutdown</a:t>
            </a:r>
            <a:endParaRPr lang="en-US" sz="1400" dirty="0"/>
          </a:p>
        </p:txBody>
      </p:sp>
      <p:sp>
        <p:nvSpPr>
          <p:cNvPr id="18" name="Text 15"/>
          <p:cNvSpPr txBox="1"/>
          <p:nvPr/>
        </p:nvSpPr>
        <p:spPr>
          <a:xfrm>
            <a:off x="4663440" y="2606040"/>
            <a:ext cx="4023360" cy="320040"/>
          </a:xfrm>
          <a:prstGeom prst="rect">
            <a:avLst/>
          </a:prstGeom>
          <a:noFill/>
          <a:ln/>
        </p:spPr>
        <p:txBody>
          <a:bodyPr wrap="square" lIns="0" tIns="0" rIns="0" bIns="0" rtlCol="0" anchor="t"/>
          <a:lstStyle/>
          <a:p>
            <a:pPr indent="0" marL="0">
              <a:buNone/>
            </a:pPr>
            <a:r>
              <a:rPr lang="en-US" sz="1800" b="1" dirty="0">
                <a:solidFill>
                  <a:schemeClr val="tx2"/>
                </a:solidFill>
              </a:rPr>
              <a:t>End devices</a:t>
            </a:r>
            <a:endParaRPr lang="en-US" sz="1400" dirty="0"/>
          </a:p>
        </p:txBody>
      </p:sp>
      <p:sp>
        <p:nvSpPr>
          <p:cNvPr id="19" name="Text 16"/>
          <p:cNvSpPr txBox="1"/>
          <p:nvPr/>
        </p:nvSpPr>
        <p:spPr>
          <a:xfrm>
            <a:off x="4663440" y="3017520"/>
            <a:ext cx="40233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Static IP, mask, gateway and DNS 192.168.10.100</a:t>
            </a:r>
            <a:endParaRPr lang="en-US" sz="1400" dirty="0"/>
          </a:p>
          <a:p>
            <a:pPr marL="342900" indent="-342900">
              <a:spcAft>
                <a:spcPts val="600"/>
              </a:spcAft>
              <a:buSzPct val="100000"/>
              <a:buChar char="•"/>
            </a:pPr>
            <a:r>
              <a:rPr lang="en-US" sz="1400" dirty="0">
                <a:solidFill>
                  <a:schemeClr val="tx1"/>
                </a:solidFill>
              </a:rPr>
              <a:t>Verified with ipconfig /all</a:t>
            </a:r>
            <a:endParaRPr lang="en-US" sz="1400" dirty="0"/>
          </a:p>
          <a:p>
            <a:pPr marL="342900" indent="-342900">
              <a:spcAft>
                <a:spcPts val="600"/>
              </a:spcAft>
              <a:buSzPct val="100000"/>
              <a:buChar char="•"/>
            </a:pPr>
            <a:r>
              <a:rPr lang="en-US" sz="1400" dirty="0">
                <a:solidFill>
                  <a:schemeClr val="tx1"/>
                </a:solidFill>
              </a:rPr>
              <a:t>Before the router: same-LAN ping works, cross-LAN fails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Switches: identity, access, management</a:t>
            </a:r>
            <a:endParaRPr lang="en-US" sz="3000" dirty="0"/>
          </a:p>
        </p:txBody>
      </p:sp>
      <p:sp>
        <p:nvSpPr>
          <p:cNvPr id="4" name="Text 1"/>
          <p:cNvSpPr txBox="1"/>
          <p:nvPr/>
        </p:nvSpPr>
        <p:spPr>
          <a:xfrm>
            <a:off x="457200" y="1188720"/>
            <a:ext cx="402336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Identity: hostname, no ip domain-lookup</a:t>
            </a:r>
            <a:endParaRPr lang="en-US" sz="1400" dirty="0"/>
          </a:p>
          <a:p>
            <a:pPr marL="342900" indent="-342900">
              <a:spcAft>
                <a:spcPts val="600"/>
              </a:spcAft>
              <a:buSzPct val="100000"/>
              <a:buChar char="•"/>
            </a:pPr>
            <a:r>
              <a:rPr lang="en-US" sz="1400" dirty="0">
                <a:solidFill>
                  <a:schemeClr val="tx1"/>
                </a:solidFill>
              </a:rPr>
              <a:t>Access: enable secret, console and VTY passwords</a:t>
            </a:r>
            <a:endParaRPr lang="en-US" sz="1400" dirty="0"/>
          </a:p>
          <a:p>
            <a:pPr marL="342900" indent="-342900">
              <a:spcAft>
                <a:spcPts val="600"/>
              </a:spcAft>
              <a:buSzPct val="100000"/>
              <a:buChar char="•"/>
            </a:pPr>
            <a:r>
              <a:rPr lang="en-US" sz="1400" dirty="0">
                <a:solidFill>
                  <a:schemeClr val="tx1"/>
                </a:solidFill>
              </a:rPr>
              <a:t>service password-encryption and login banner</a:t>
            </a:r>
            <a:endParaRPr lang="en-US" sz="1400" dirty="0"/>
          </a:p>
          <a:p>
            <a:pPr marL="342900" indent="-342900">
              <a:spcAft>
                <a:spcPts val="600"/>
              </a:spcAft>
              <a:buSzPct val="100000"/>
              <a:buChar char="•"/>
            </a:pPr>
            <a:r>
              <a:rPr lang="en-US" sz="1400" dirty="0">
                <a:solidFill>
                  <a:schemeClr val="tx1"/>
                </a:solidFill>
              </a:rPr>
              <a:t>Management: SVI on VLAN 1 plus default gateway</a:t>
            </a:r>
            <a:endParaRPr lang="en-US" sz="1400" dirty="0"/>
          </a:p>
          <a:p>
            <a:pPr marL="342900" indent="-342900">
              <a:spcAft>
                <a:spcPts val="600"/>
              </a:spcAft>
              <a:buSzPct val="100000"/>
              <a:buChar char="•"/>
            </a:pPr>
            <a:r>
              <a:rPr lang="en-US" sz="1400" dirty="0">
                <a:solidFill>
                  <a:schemeClr val="tx1"/>
                </a:solidFill>
              </a:rPr>
              <a:t>Port descriptions on every used port</a:t>
            </a:r>
            <a:endParaRPr lang="en-US" sz="1400" dirty="0"/>
          </a:p>
          <a:p>
            <a:pPr marL="342900" indent="-342900">
              <a:spcAft>
                <a:spcPts val="600"/>
              </a:spcAft>
              <a:buSzPct val="100000"/>
              <a:buChar char="•"/>
            </a:pPr>
            <a:r>
              <a:rPr lang="en-US" sz="1400" dirty="0">
                <a:solidFill>
                  <a:schemeClr val="tx1"/>
                </a:solidFill>
              </a:rPr>
              <a:t>Saved with copy running-config startup-config</a:t>
            </a:r>
            <a:endParaRPr lang="en-US" sz="1400" dirty="0"/>
          </a:p>
        </p:txBody>
      </p:sp>
      <p:sp>
        <p:nvSpPr>
          <p:cNvPr id="5" name="SW-ADMIN config"/>
          <p:cNvSpPr/>
          <p:nvPr/>
        </p:nvSpPr>
        <p:spPr>
          <a:xfrm>
            <a:off x="4663440" y="1188720"/>
            <a:ext cx="4023360" cy="1920240"/>
          </a:xfrm>
          <a:prstGeom prst="roundRect">
            <a:avLst>
              <a:gd name="adj" fmla="val 3810"/>
            </a:avLst>
          </a:prstGeom>
          <a:solidFill>
            <a:schemeClr val="tx2"/>
          </a:solidFill>
          <a:ln/>
        </p:spPr>
      </p:sp>
      <p:sp>
        <p:nvSpPr>
          <p:cNvPr id="6" name="SW-ADMIN config text"/>
          <p:cNvSpPr txBox="1"/>
          <p:nvPr/>
        </p:nvSpPr>
        <p:spPr>
          <a:xfrm>
            <a:off x="4800600" y="1298448"/>
            <a:ext cx="3749040" cy="1700784"/>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hostname SW-ADMIN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enable secret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service password-encryption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interface vlan 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ip address 192.168.10.2 255.255.255.192</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no shutdown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ip default-gateway 192.168.10.1</a:t>
            </a:r>
            <a:endParaRPr lang="en-US" sz="1100" dirty="0"/>
          </a:p>
        </p:txBody>
      </p:sp>
      <p:sp>
        <p:nvSpPr>
          <p:cNvPr id="7" name="Verify card"/>
          <p:cNvSpPr/>
          <p:nvPr/>
        </p:nvSpPr>
        <p:spPr>
          <a:xfrm>
            <a:off x="4663440" y="3291840"/>
            <a:ext cx="4023360" cy="1280160"/>
          </a:xfrm>
          <a:prstGeom prst="roundRect">
            <a:avLst>
              <a:gd name="adj" fmla="val 5714"/>
            </a:avLst>
          </a:prstGeom>
          <a:solidFill>
            <a:schemeClr val="bg2"/>
          </a:solidFill>
          <a:ln/>
        </p:spPr>
      </p:sp>
      <p:sp>
        <p:nvSpPr>
          <p:cNvPr id="8" name="Verify text"/>
          <p:cNvSpPr txBox="1"/>
          <p:nvPr/>
        </p:nvSpPr>
        <p:spPr>
          <a:xfrm>
            <a:off x="4846320" y="3401568"/>
            <a:ext cx="3657600" cy="109728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Verify live</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show ip interface brief</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show mac address-table</a:t>
            </a:r>
            <a:endParaRPr lang="en-US" sz="1400" dirty="0"/>
          </a:p>
          <a:p>
            <a:pPr indent="0" marL="0">
              <a:buNone/>
            </a:pPr>
            <a:r>
              <a:rPr lang="en-US" sz="1200" dirty="0">
                <a:solidFill>
                  <a:schemeClr val="tx1"/>
                </a:solidFill>
                <a:latin typeface="Courier New" pitchFamily="34" charset="0"/>
                <a:ea typeface="Courier New" pitchFamily="34" charset="-122"/>
                <a:cs typeface="Courier New" pitchFamily="34" charset="-120"/>
              </a:rPr>
              <a:t>show running-config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Router: the gateway for all three LANs</a:t>
            </a:r>
            <a:endParaRPr lang="en-US" sz="3000" dirty="0"/>
          </a:p>
        </p:txBody>
      </p:sp>
      <p:sp>
        <p:nvSpPr>
          <p:cNvPr id="4" name="R-OFFICE config"/>
          <p:cNvSpPr/>
          <p:nvPr/>
        </p:nvSpPr>
        <p:spPr>
          <a:xfrm>
            <a:off x="457200" y="1188720"/>
            <a:ext cx="4023360" cy="2103120"/>
          </a:xfrm>
          <a:prstGeom prst="roundRect">
            <a:avLst>
              <a:gd name="adj" fmla="val 3478"/>
            </a:avLst>
          </a:prstGeom>
          <a:solidFill>
            <a:schemeClr val="tx2"/>
          </a:solidFill>
          <a:ln/>
        </p:spPr>
      </p:sp>
      <p:sp>
        <p:nvSpPr>
          <p:cNvPr id="5" name="R-OFFICE config text"/>
          <p:cNvSpPr txBox="1"/>
          <p:nvPr/>
        </p:nvSpPr>
        <p:spPr>
          <a:xfrm>
            <a:off x="594360" y="1298448"/>
            <a:ext cx="3749040" cy="1883664"/>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interface gigabitEthernet 0/0</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ip address 192.168.10.1 255.255.255.192</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no shutdown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interface gigabitEthernet 0/1</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ip address 192.168.10.65 255.255.255.224</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no shutdown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interface gigabitEthernet 0/2</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ip address 192.168.10.97 255.255.255.240</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no shutdown</a:t>
            </a:r>
            <a:endParaRPr lang="en-US" sz="1100" dirty="0"/>
          </a:p>
        </p:txBody>
      </p:sp>
      <p:sp>
        <p:nvSpPr>
          <p:cNvPr id="6" name="Shutdown card"/>
          <p:cNvSpPr/>
          <p:nvPr/>
        </p:nvSpPr>
        <p:spPr>
          <a:xfrm>
            <a:off x="457200" y="3474720"/>
            <a:ext cx="4023360" cy="1097280"/>
          </a:xfrm>
          <a:prstGeom prst="roundRect">
            <a:avLst>
              <a:gd name="adj" fmla="val 6667"/>
            </a:avLst>
          </a:prstGeom>
          <a:solidFill>
            <a:schemeClr val="bg2"/>
          </a:solidFill>
          <a:ln/>
        </p:spPr>
      </p:sp>
      <p:sp>
        <p:nvSpPr>
          <p:cNvPr id="7" name="Shutdown text"/>
          <p:cNvSpPr txBox="1"/>
          <p:nvPr/>
        </p:nvSpPr>
        <p:spPr>
          <a:xfrm>
            <a:off x="640080" y="3474720"/>
            <a:ext cx="3657600" cy="1097280"/>
          </a:xfrm>
          <a:prstGeom prst="rect">
            <a:avLst/>
          </a:prstGeom>
          <a:noFill/>
          <a:ln/>
        </p:spPr>
        <p:txBody>
          <a:bodyPr wrap="square" lIns="0" tIns="0" rIns="0" bIns="0" rtlCol="0" anchor="ctr"/>
          <a:lstStyle/>
          <a:p>
            <a:pPr indent="0" marL="0">
              <a:buNone/>
            </a:pPr>
            <a:r>
              <a:rPr lang="en-US" sz="1400" b="1" dirty="0">
                <a:solidFill>
                  <a:schemeClr val="tx1"/>
                </a:solidFill>
              </a:rPr>
              <a:t>Interfaces start shut down. </a:t>
            </a:r>
            <a:pPr indent="0" marL="0">
              <a:buNone/>
            </a:pPr>
            <a:r>
              <a:rPr lang="en-US" sz="1400" dirty="0">
                <a:solidFill>
                  <a:schemeClr val="tx1"/>
                </a:solidFill>
              </a:rPr>
              <a:t>no shutdown turns the red links green, and show ip interface brief must say up/up.</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914400"/>
        </p:xfrm>
        <a:graphic>
          <a:graphicData uri="http://schemas.openxmlformats.org/drawingml/2006/table">
            <a:tbl>
              <a:tblPr/>
              <a:tblGrid>
                <a:gridCol w="731520"/>
                <a:gridCol w="2194560"/>
                <a:gridCol w="1097280"/>
              </a:tblGrid>
              <a:tr h="365760">
                <a:tc>
                  <a:txBody>
                    <a:bodyPr/>
                    <a:lstStyle/>
                    <a:p>
                      <a:pPr indent="0" marL="0">
                        <a:buNone/>
                      </a:pPr>
                      <a:r>
                        <a:rPr lang="en-US" sz="1300" b="1" dirty="0">
                          <a:solidFill>
                            <a:schemeClr val="bg1"/>
                          </a:solidFill>
                        </a:rPr>
                        <a:t>Code</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Route</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Via</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rPr>
                        <a:t>C</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192.168.10.0/26</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G0/0</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365760">
                <a:tc>
                  <a:txBody>
                    <a:bodyPr/>
                    <a:lstStyle/>
                    <a:p>
                      <a:pPr indent="0" marL="0">
                        <a:buNone/>
                      </a:pPr>
                      <a:r>
                        <a:rPr lang="en-US" sz="1300" dirty="0">
                          <a:solidFill>
                            <a:schemeClr val="tx1"/>
                          </a:solidFill>
                        </a:rPr>
                        <a:t>C</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192.168.10.64/27</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G0/1</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365760">
                <a:tc>
                  <a:txBody>
                    <a:bodyPr/>
                    <a:lstStyle/>
                    <a:p>
                      <a:pPr indent="0" marL="0">
                        <a:buNone/>
                      </a:pPr>
                      <a:r>
                        <a:rPr lang="en-US" sz="1300" dirty="0">
                          <a:solidFill>
                            <a:schemeClr val="tx1"/>
                          </a:solidFill>
                        </a:rPr>
                        <a:t>C</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192.168.10.96/28</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300" dirty="0">
                          <a:solidFill>
                            <a:schemeClr val="tx1"/>
                          </a:solidFill>
                        </a:rPr>
                        <a:t>G0/2</a:t>
                      </a:r>
                      <a:endParaRPr lang="en-US" sz="13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9" name="Text 5"/>
          <p:cNvSpPr txBox="1"/>
          <p:nvPr/>
        </p:nvSpPr>
        <p:spPr>
          <a:xfrm>
            <a:off x="4663440" y="2880360"/>
            <a:ext cx="40233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 is connected; L is the router's own /32 address</a:t>
            </a:r>
            <a:endParaRPr lang="en-US" sz="1400" dirty="0"/>
          </a:p>
          <a:p>
            <a:pPr marL="342900" indent="-342900">
              <a:spcAft>
                <a:spcPts val="600"/>
              </a:spcAft>
              <a:buSzPct val="100000"/>
              <a:buChar char="•"/>
            </a:pPr>
            <a:r>
              <a:rPr lang="en-US" sz="1400" dirty="0">
                <a:solidFill>
                  <a:schemeClr val="tx1"/>
                </a:solidFill>
              </a:rPr>
              <a:t>No gateway of last resort: no Internet in this lab</a:t>
            </a:r>
            <a:endParaRPr lang="en-US" sz="1400" dirty="0"/>
          </a:p>
          <a:p>
            <a:pPr marL="342900" indent="-342900">
              <a:spcAft>
                <a:spcPts val="600"/>
              </a:spcAft>
              <a:buSzPct val="100000"/>
              <a:buChar char="•"/>
            </a:pPr>
            <a:r>
              <a:rPr lang="en-US" sz="1400" dirty="0">
                <a:solidFill>
                  <a:schemeClr val="tx1"/>
                </a:solidFill>
              </a:rPr>
              <a:t>Server .100 matches 192.168.10.96/28, the longest prefix</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Live demo: across LANs and over IPv6</a:t>
            </a:r>
            <a:endParaRPr lang="en-US" sz="3000" dirty="0"/>
          </a:p>
        </p:txBody>
      </p:sp>
      <p:sp>
        <p:nvSpPr>
          <p:cNvPr id="4" name="Demo panel"/>
          <p:cNvSpPr/>
          <p:nvPr/>
        </p:nvSpPr>
        <p:spPr>
          <a:xfrm>
            <a:off x="457200" y="1188720"/>
            <a:ext cx="4023360" cy="3383280"/>
          </a:xfrm>
          <a:prstGeom prst="roundRect">
            <a:avLst>
              <a:gd name="adj" fmla="val 2162"/>
            </a:avLst>
          </a:prstGeom>
          <a:solidFill>
            <a:schemeClr val="tx2"/>
          </a:solidFill>
          <a:ln/>
        </p:spPr>
      </p:sp>
      <p:sp>
        <p:nvSpPr>
          <p:cNvPr id="5" name="Demo commands"/>
          <p:cNvSpPr txBox="1"/>
          <p:nvPr/>
        </p:nvSpPr>
        <p:spPr>
          <a:xfrm>
            <a:off x="640080" y="1325880"/>
            <a:ext cx="3657600" cy="310896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latin typeface="Courier New" pitchFamily="34" charset="0"/>
                <a:ea typeface="Courier New" pitchFamily="34" charset="-122"/>
                <a:cs typeface="Courier New" pitchFamily="34" charset="-120"/>
              </a:rPr>
              <a:t>On PC-ADM1</a:t>
            </a:r>
            <a:endParaRPr lang="en-US" sz="1300" dirty="0"/>
          </a:p>
          <a:p>
            <a:pPr indent="0" marL="0">
              <a:spcAft>
                <a:spcPts val="400"/>
              </a:spcAft>
              <a:buNone/>
            </a:pPr>
            <a:r>
              <a:rPr lang="en-US" sz="1300" dirty="0">
                <a:solidFill>
                  <a:schemeClr val="bg2"/>
                </a:solidFill>
                <a:latin typeface="Courier New" pitchFamily="34" charset="0"/>
                <a:ea typeface="Courier New" pitchFamily="34" charset="-122"/>
                <a:cs typeface="Courier New" pitchFamily="34" charset="-120"/>
              </a:rPr>
              <a:t>ping 192.168.10.1</a:t>
            </a:r>
            <a:endParaRPr lang="en-US" sz="1300" dirty="0"/>
          </a:p>
          <a:p>
            <a:pPr indent="0" marL="0">
              <a:spcAft>
                <a:spcPts val="400"/>
              </a:spcAft>
              <a:buNone/>
            </a:pPr>
            <a:r>
              <a:rPr lang="en-US" sz="1300" dirty="0">
                <a:solidFill>
                  <a:schemeClr val="bg2"/>
                </a:solidFill>
                <a:latin typeface="Courier New" pitchFamily="34" charset="0"/>
                <a:ea typeface="Courier New" pitchFamily="34" charset="-122"/>
                <a:cs typeface="Courier New" pitchFamily="34" charset="-120"/>
              </a:rPr>
              <a:t>ping 192.168.10.65</a:t>
            </a:r>
            <a:endParaRPr lang="en-US" sz="1300" dirty="0"/>
          </a:p>
          <a:p>
            <a:pPr indent="0" marL="0">
              <a:spcAft>
                <a:spcPts val="400"/>
              </a:spcAft>
              <a:buNone/>
            </a:pPr>
            <a:r>
              <a:rPr lang="en-US" sz="1300" dirty="0">
                <a:solidFill>
                  <a:schemeClr val="bg2"/>
                </a:solidFill>
                <a:latin typeface="Courier New" pitchFamily="34" charset="0"/>
                <a:ea typeface="Courier New" pitchFamily="34" charset="-122"/>
                <a:cs typeface="Courier New" pitchFamily="34" charset="-120"/>
              </a:rPr>
              <a:t>ping 192.168.10.97</a:t>
            </a:r>
            <a:endParaRPr lang="en-US" sz="1300" dirty="0"/>
          </a:p>
          <a:p>
            <a:pPr indent="0" marL="0">
              <a:spcAft>
                <a:spcPts val="400"/>
              </a:spcAft>
              <a:buNone/>
            </a:pPr>
            <a:r>
              <a:rPr lang="en-US" sz="1300" dirty="0">
                <a:solidFill>
                  <a:schemeClr val="bg2"/>
                </a:solidFill>
                <a:latin typeface="Courier New" pitchFamily="34" charset="0"/>
                <a:ea typeface="Courier New" pitchFamily="34" charset="-122"/>
                <a:cs typeface="Courier New" pitchFamily="34" charset="-120"/>
              </a:rPr>
              <a:t>ping 192.168.10.100</a:t>
            </a:r>
            <a:endParaRPr lang="en-US" sz="1300" dirty="0"/>
          </a:p>
          <a:p>
            <a:pPr indent="0" marL="0">
              <a:spcAft>
                <a:spcPts val="400"/>
              </a:spcAft>
              <a:buNone/>
            </a:pPr>
            <a:r>
              <a:rPr lang="en-US" sz="1300" dirty="0">
                <a:solidFill>
                  <a:schemeClr val="bg2"/>
                </a:solidFill>
                <a:latin typeface="Courier New" pitchFamily="34" charset="0"/>
                <a:ea typeface="Courier New" pitchFamily="34" charset="-122"/>
                <a:cs typeface="Courier New" pitchFamily="34" charset="-120"/>
              </a:rPr>
              <a:t>tracert 192.168.10.100</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ping 2001:db8:acad:30::100</a:t>
            </a:r>
            <a:endParaRPr lang="en-US" sz="1300" dirty="0"/>
          </a:p>
        </p:txBody>
      </p:sp>
      <p:sp>
        <p:nvSpPr>
          <p:cNvPr id="6" name="Result card 1"/>
          <p:cNvSpPr/>
          <p:nvPr/>
        </p:nvSpPr>
        <p:spPr>
          <a:xfrm>
            <a:off x="4663440" y="1188720"/>
            <a:ext cx="4023360" cy="777240"/>
          </a:xfrm>
          <a:prstGeom prst="roundRect">
            <a:avLst>
              <a:gd name="adj" fmla="val 9412"/>
            </a:avLst>
          </a:prstGeom>
          <a:solidFill>
            <a:schemeClr val="bg2"/>
          </a:solidFill>
          <a:ln/>
        </p:spPr>
      </p:sp>
      <p:sp>
        <p:nvSpPr>
          <p:cNvPr id="7" name="Result text 1"/>
          <p:cNvSpPr txBox="1"/>
          <p:nvPr/>
        </p:nvSpPr>
        <p:spPr>
          <a:xfrm>
            <a:off x="4846320" y="1188720"/>
            <a:ext cx="3657600" cy="777240"/>
          </a:xfrm>
          <a:prstGeom prst="rect">
            <a:avLst/>
          </a:prstGeom>
          <a:noFill/>
          <a:ln/>
        </p:spPr>
        <p:txBody>
          <a:bodyPr wrap="square" lIns="0" tIns="0" rIns="0" bIns="0" rtlCol="0" anchor="ctr"/>
          <a:lstStyle/>
          <a:p>
            <a:pPr indent="0" marL="0">
              <a:buNone/>
            </a:pPr>
            <a:r>
              <a:rPr lang="en-US" sz="1300" b="1" dirty="0">
                <a:solidFill>
                  <a:schemeClr val="accent1"/>
                </a:solidFill>
              </a:rPr>
              <a:t>Across LANs: </a:t>
            </a:r>
            <a:pPr indent="0" marL="0">
              <a:buNone/>
            </a:pPr>
            <a:r>
              <a:rPr lang="en-US" sz="1300" dirty="0">
                <a:solidFill>
                  <a:schemeClr val="tx1"/>
                </a:solidFill>
              </a:rPr>
              <a:t>all pings succeed; the first may lose one reply (ARP)</a:t>
            </a:r>
            <a:endParaRPr lang="en-US" sz="1300" dirty="0"/>
          </a:p>
        </p:txBody>
      </p:sp>
      <p:sp>
        <p:nvSpPr>
          <p:cNvPr id="8" name="Result card 2"/>
          <p:cNvSpPr/>
          <p:nvPr/>
        </p:nvSpPr>
        <p:spPr>
          <a:xfrm>
            <a:off x="4663440" y="2057400"/>
            <a:ext cx="4023360" cy="777240"/>
          </a:xfrm>
          <a:prstGeom prst="roundRect">
            <a:avLst>
              <a:gd name="adj" fmla="val 9412"/>
            </a:avLst>
          </a:prstGeom>
          <a:solidFill>
            <a:schemeClr val="bg2"/>
          </a:solidFill>
          <a:ln/>
        </p:spPr>
      </p:sp>
      <p:sp>
        <p:nvSpPr>
          <p:cNvPr id="9" name="Result text 2"/>
          <p:cNvSpPr txBox="1"/>
          <p:nvPr/>
        </p:nvSpPr>
        <p:spPr>
          <a:xfrm>
            <a:off x="4846320" y="2057400"/>
            <a:ext cx="3657600" cy="777240"/>
          </a:xfrm>
          <a:prstGeom prst="rect">
            <a:avLst/>
          </a:prstGeom>
          <a:noFill/>
          <a:ln/>
        </p:spPr>
        <p:txBody>
          <a:bodyPr wrap="square" lIns="0" tIns="0" rIns="0" bIns="0" rtlCol="0" anchor="ctr"/>
          <a:lstStyle/>
          <a:p>
            <a:pPr indent="0" marL="0">
              <a:buNone/>
            </a:pPr>
            <a:r>
              <a:rPr lang="en-US" sz="1300" b="1" dirty="0">
                <a:solidFill>
                  <a:schemeClr val="accent1"/>
                </a:solidFill>
              </a:rPr>
              <a:t>tracert: </a:t>
            </a:r>
            <a:pPr indent="0" marL="0">
              <a:buNone/>
            </a:pPr>
            <a:r>
              <a:rPr lang="en-US" sz="1300" dirty="0">
                <a:solidFill>
                  <a:schemeClr val="tx1"/>
                </a:solidFill>
              </a:rPr>
              <a:t>hop 1 is 192.168.10.1 (gateway), hop 2 is 192.168.10.100</a:t>
            </a:r>
            <a:endParaRPr lang="en-US" sz="1300" dirty="0"/>
          </a:p>
        </p:txBody>
      </p:sp>
      <p:sp>
        <p:nvSpPr>
          <p:cNvPr id="10" name="Result card 3"/>
          <p:cNvSpPr/>
          <p:nvPr/>
        </p:nvSpPr>
        <p:spPr>
          <a:xfrm>
            <a:off x="4663440" y="2926080"/>
            <a:ext cx="4023360" cy="777240"/>
          </a:xfrm>
          <a:prstGeom prst="roundRect">
            <a:avLst>
              <a:gd name="adj" fmla="val 9412"/>
            </a:avLst>
          </a:prstGeom>
          <a:solidFill>
            <a:schemeClr val="bg2"/>
          </a:solidFill>
          <a:ln/>
        </p:spPr>
      </p:sp>
      <p:sp>
        <p:nvSpPr>
          <p:cNvPr id="11" name="Result text 3"/>
          <p:cNvSpPr txBox="1"/>
          <p:nvPr/>
        </p:nvSpPr>
        <p:spPr>
          <a:xfrm>
            <a:off x="4846320" y="2926080"/>
            <a:ext cx="3657600" cy="777240"/>
          </a:xfrm>
          <a:prstGeom prst="rect">
            <a:avLst/>
          </a:prstGeom>
          <a:noFill/>
          <a:ln/>
        </p:spPr>
        <p:txBody>
          <a:bodyPr wrap="square" lIns="0" tIns="0" rIns="0" bIns="0" rtlCol="0" anchor="ctr"/>
          <a:lstStyle/>
          <a:p>
            <a:pPr indent="0" marL="0">
              <a:buNone/>
            </a:pPr>
            <a:r>
              <a:rPr lang="en-US" sz="1300" b="1" dirty="0">
                <a:solidFill>
                  <a:schemeClr val="accent1"/>
                </a:solidFill>
              </a:rPr>
              <a:t>TTL: </a:t>
            </a:r>
            <a:pPr indent="0" marL="0">
              <a:buNone/>
            </a:pPr>
            <a:r>
              <a:rPr lang="en-US" sz="1300" dirty="0">
                <a:solidFill>
                  <a:schemeClr val="tx1"/>
                </a:solidFill>
              </a:rPr>
              <a:t>128 inside a LAN, 127 after one router hop</a:t>
            </a:r>
            <a:endParaRPr lang="en-US" sz="1300" dirty="0"/>
          </a:p>
        </p:txBody>
      </p:sp>
      <p:sp>
        <p:nvSpPr>
          <p:cNvPr id="12" name="Result card 4"/>
          <p:cNvSpPr/>
          <p:nvPr/>
        </p:nvSpPr>
        <p:spPr>
          <a:xfrm>
            <a:off x="4663440" y="3794760"/>
            <a:ext cx="4023360" cy="777240"/>
          </a:xfrm>
          <a:prstGeom prst="roundRect">
            <a:avLst>
              <a:gd name="adj" fmla="val 9412"/>
            </a:avLst>
          </a:prstGeom>
          <a:solidFill>
            <a:schemeClr val="bg2"/>
          </a:solidFill>
          <a:ln/>
        </p:spPr>
      </p:sp>
      <p:sp>
        <p:nvSpPr>
          <p:cNvPr id="13" name="Result text 4"/>
          <p:cNvSpPr txBox="1"/>
          <p:nvPr/>
        </p:nvSpPr>
        <p:spPr>
          <a:xfrm>
            <a:off x="4846320" y="3794760"/>
            <a:ext cx="3657600" cy="777240"/>
          </a:xfrm>
          <a:prstGeom prst="rect">
            <a:avLst/>
          </a:prstGeom>
          <a:noFill/>
          <a:ln/>
        </p:spPr>
        <p:txBody>
          <a:bodyPr wrap="square" lIns="0" tIns="0" rIns="0" bIns="0" rtlCol="0" anchor="ctr"/>
          <a:lstStyle/>
          <a:p>
            <a:pPr indent="0" marL="0">
              <a:buNone/>
            </a:pPr>
            <a:r>
              <a:rPr lang="en-US" sz="1300" b="1" dirty="0">
                <a:solidFill>
                  <a:schemeClr val="accent1"/>
                </a:solidFill>
              </a:rPr>
              <a:t>IPv6: </a:t>
            </a:r>
            <a:pPr indent="0" marL="0">
              <a:buNone/>
            </a:pPr>
            <a:r>
              <a:rPr lang="en-US" sz="1300" dirty="0">
                <a:solidFill>
                  <a:schemeClr val="tx1"/>
                </a:solidFill>
              </a:rPr>
              <a:t>needs ipv6 unicast-routing; IPv4 stays untouched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Services and protocols in action</a:t>
            </a:r>
            <a:endParaRPr lang="en-US" sz="3000" dirty="0"/>
          </a:p>
        </p:txBody>
      </p:sp>
      <p:sp>
        <p:nvSpPr>
          <p:cNvPr id="4" name="Step card DNS"/>
          <p:cNvSpPr/>
          <p:nvPr/>
        </p:nvSpPr>
        <p:spPr>
          <a:xfrm>
            <a:off x="457200" y="1188720"/>
            <a:ext cx="1920240" cy="2103120"/>
          </a:xfrm>
          <a:prstGeom prst="roundRect">
            <a:avLst>
              <a:gd name="adj" fmla="val 3810"/>
            </a:avLst>
          </a:prstGeom>
          <a:solidFill>
            <a:schemeClr val="bg2"/>
          </a:solidFill>
          <a:ln/>
        </p:spPr>
      </p:sp>
      <p:sp>
        <p:nvSpPr>
          <p:cNvPr id="5" name="Step number 1"/>
          <p:cNvSpPr/>
          <p:nvPr/>
        </p:nvSpPr>
        <p:spPr>
          <a:xfrm>
            <a:off x="594360" y="1325880"/>
            <a:ext cx="457200" cy="457200"/>
          </a:xfrm>
          <a:prstGeom prst="ellipse">
            <a:avLst/>
          </a:prstGeom>
          <a:solidFill>
            <a:schemeClr val="accent2"/>
          </a:solidFill>
          <a:ln/>
        </p:spPr>
      </p:sp>
      <p:sp>
        <p:nvSpPr>
          <p:cNvPr id="6" name="Step number 1 label"/>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Step title DNS"/>
          <p:cNvSpPr txBox="1"/>
          <p:nvPr/>
        </p:nvSpPr>
        <p:spPr>
          <a:xfrm>
            <a:off x="1188720" y="1325880"/>
            <a:ext cx="1097280" cy="457200"/>
          </a:xfrm>
          <a:prstGeom prst="rect">
            <a:avLst/>
          </a:prstGeom>
          <a:noFill/>
          <a:ln/>
        </p:spPr>
        <p:txBody>
          <a:bodyPr wrap="square" lIns="0" tIns="0" rIns="0" bIns="0" rtlCol="0" anchor="ctr"/>
          <a:lstStyle/>
          <a:p>
            <a:pPr indent="0" marL="0">
              <a:buNone/>
            </a:pPr>
            <a:r>
              <a:rPr lang="en-US" sz="1800" b="1" dirty="0">
                <a:solidFill>
                  <a:schemeClr val="tx2"/>
                </a:solidFill>
              </a:rPr>
              <a:t>DNS</a:t>
            </a:r>
            <a:endParaRPr lang="en-US" sz="1800" dirty="0"/>
          </a:p>
        </p:txBody>
      </p:sp>
      <p:sp>
        <p:nvSpPr>
          <p:cNvPr id="8" name="Step text DNS"/>
          <p:cNvSpPr txBox="1"/>
          <p:nvPr/>
        </p:nvSpPr>
        <p:spPr>
          <a:xfrm>
            <a:off x="594360" y="1920240"/>
            <a:ext cx="1645920" cy="1280160"/>
          </a:xfrm>
          <a:prstGeom prst="rect">
            <a:avLst/>
          </a:prstGeom>
          <a:noFill/>
          <a:ln/>
        </p:spPr>
        <p:txBody>
          <a:bodyPr wrap="square" lIns="0" tIns="0" rIns="0" bIns="0" rtlCol="0" anchor="t"/>
          <a:lstStyle/>
          <a:p>
            <a:pPr indent="0" marL="0">
              <a:buNone/>
            </a:pPr>
            <a:r>
              <a:rPr lang="en-US" sz="1300" dirty="0">
                <a:solidFill>
                  <a:schemeClr val="tx1"/>
                </a:solidFill>
              </a:rPr>
              <a:t>Query to Server-IT on UDP port 53; answer is the A record 192.168.10.100</a:t>
            </a:r>
            <a:endParaRPr lang="en-US" sz="1300" dirty="0"/>
          </a:p>
        </p:txBody>
      </p:sp>
      <p:sp>
        <p:nvSpPr>
          <p:cNvPr id="9" name="Step card ARP"/>
          <p:cNvSpPr/>
          <p:nvPr/>
        </p:nvSpPr>
        <p:spPr>
          <a:xfrm>
            <a:off x="2560320" y="1188720"/>
            <a:ext cx="1920240" cy="2103120"/>
          </a:xfrm>
          <a:prstGeom prst="roundRect">
            <a:avLst>
              <a:gd name="adj" fmla="val 3810"/>
            </a:avLst>
          </a:prstGeom>
          <a:solidFill>
            <a:schemeClr val="bg2"/>
          </a:solidFill>
          <a:ln/>
        </p:spPr>
      </p:sp>
      <p:sp>
        <p:nvSpPr>
          <p:cNvPr id="10" name="Step number 2"/>
          <p:cNvSpPr/>
          <p:nvPr/>
        </p:nvSpPr>
        <p:spPr>
          <a:xfrm>
            <a:off x="2697480" y="1325880"/>
            <a:ext cx="457200" cy="457200"/>
          </a:xfrm>
          <a:prstGeom prst="ellipse">
            <a:avLst/>
          </a:prstGeom>
          <a:solidFill>
            <a:schemeClr val="accent2"/>
          </a:solidFill>
          <a:ln/>
        </p:spPr>
      </p:sp>
      <p:sp>
        <p:nvSpPr>
          <p:cNvPr id="11" name="Step number 2 label"/>
          <p:cNvSpPr txBox="1"/>
          <p:nvPr/>
        </p:nvSpPr>
        <p:spPr>
          <a:xfrm>
            <a:off x="269748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Step title ARP"/>
          <p:cNvSpPr txBox="1"/>
          <p:nvPr/>
        </p:nvSpPr>
        <p:spPr>
          <a:xfrm>
            <a:off x="3291840" y="1325880"/>
            <a:ext cx="1097280" cy="457200"/>
          </a:xfrm>
          <a:prstGeom prst="rect">
            <a:avLst/>
          </a:prstGeom>
          <a:noFill/>
          <a:ln/>
        </p:spPr>
        <p:txBody>
          <a:bodyPr wrap="square" lIns="0" tIns="0" rIns="0" bIns="0" rtlCol="0" anchor="ctr"/>
          <a:lstStyle/>
          <a:p>
            <a:pPr indent="0" marL="0">
              <a:buNone/>
            </a:pPr>
            <a:r>
              <a:rPr lang="en-US" sz="1800" b="1" dirty="0">
                <a:solidFill>
                  <a:schemeClr val="tx2"/>
                </a:solidFill>
              </a:rPr>
              <a:t>ARP</a:t>
            </a:r>
            <a:endParaRPr lang="en-US" sz="1800" dirty="0"/>
          </a:p>
        </p:txBody>
      </p:sp>
      <p:sp>
        <p:nvSpPr>
          <p:cNvPr id="13" name="Step text ARP"/>
          <p:cNvSpPr txBox="1"/>
          <p:nvPr/>
        </p:nvSpPr>
        <p:spPr>
          <a:xfrm>
            <a:off x="2697480" y="1920240"/>
            <a:ext cx="1645920" cy="1280160"/>
          </a:xfrm>
          <a:prstGeom prst="rect">
            <a:avLst/>
          </a:prstGeom>
          <a:noFill/>
          <a:ln/>
        </p:spPr>
        <p:txBody>
          <a:bodyPr wrap="square" lIns="0" tIns="0" rIns="0" bIns="0" rtlCol="0" anchor="t"/>
          <a:lstStyle/>
          <a:p>
            <a:pPr indent="0" marL="0">
              <a:buNone/>
            </a:pPr>
            <a:r>
              <a:rPr lang="en-US" sz="1300" dirty="0">
                <a:solidFill>
                  <a:schemeClr val="tx1"/>
                </a:solidFill>
              </a:rPr>
              <a:t>Broadcast asks for the gateway MAC; the unicast reply is cached</a:t>
            </a:r>
            <a:endParaRPr lang="en-US" sz="1300" dirty="0"/>
          </a:p>
        </p:txBody>
      </p:sp>
      <p:sp>
        <p:nvSpPr>
          <p:cNvPr id="14" name="Step card TCP"/>
          <p:cNvSpPr/>
          <p:nvPr/>
        </p:nvSpPr>
        <p:spPr>
          <a:xfrm>
            <a:off x="4663440" y="1188720"/>
            <a:ext cx="1920240" cy="2103120"/>
          </a:xfrm>
          <a:prstGeom prst="roundRect">
            <a:avLst>
              <a:gd name="adj" fmla="val 3810"/>
            </a:avLst>
          </a:prstGeom>
          <a:solidFill>
            <a:schemeClr val="bg2"/>
          </a:solidFill>
          <a:ln/>
        </p:spPr>
      </p:sp>
      <p:sp>
        <p:nvSpPr>
          <p:cNvPr id="15" name="Step number 3"/>
          <p:cNvSpPr/>
          <p:nvPr/>
        </p:nvSpPr>
        <p:spPr>
          <a:xfrm>
            <a:off x="4800600" y="1325880"/>
            <a:ext cx="457200" cy="457200"/>
          </a:xfrm>
          <a:prstGeom prst="ellipse">
            <a:avLst/>
          </a:prstGeom>
          <a:solidFill>
            <a:schemeClr val="accent2"/>
          </a:solidFill>
          <a:ln/>
        </p:spPr>
      </p:sp>
      <p:sp>
        <p:nvSpPr>
          <p:cNvPr id="16" name="Step number 3 label"/>
          <p:cNvSpPr txBox="1"/>
          <p:nvPr/>
        </p:nvSpPr>
        <p:spPr>
          <a:xfrm>
            <a:off x="480060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7" name="Step title TCP"/>
          <p:cNvSpPr txBox="1"/>
          <p:nvPr/>
        </p:nvSpPr>
        <p:spPr>
          <a:xfrm>
            <a:off x="5394960" y="1325880"/>
            <a:ext cx="1097280" cy="457200"/>
          </a:xfrm>
          <a:prstGeom prst="rect">
            <a:avLst/>
          </a:prstGeom>
          <a:noFill/>
          <a:ln/>
        </p:spPr>
        <p:txBody>
          <a:bodyPr wrap="square" lIns="0" tIns="0" rIns="0" bIns="0" rtlCol="0" anchor="ctr"/>
          <a:lstStyle/>
          <a:p>
            <a:pPr indent="0" marL="0">
              <a:buNone/>
            </a:pPr>
            <a:r>
              <a:rPr lang="en-US" sz="1800" b="1" dirty="0">
                <a:solidFill>
                  <a:schemeClr val="tx2"/>
                </a:solidFill>
              </a:rPr>
              <a:t>TCP</a:t>
            </a:r>
            <a:endParaRPr lang="en-US" sz="1800" dirty="0"/>
          </a:p>
        </p:txBody>
      </p:sp>
      <p:sp>
        <p:nvSpPr>
          <p:cNvPr id="18" name="Step text TCP"/>
          <p:cNvSpPr txBox="1"/>
          <p:nvPr/>
        </p:nvSpPr>
        <p:spPr>
          <a:xfrm>
            <a:off x="4800600" y="1920240"/>
            <a:ext cx="1645920" cy="1280160"/>
          </a:xfrm>
          <a:prstGeom prst="rect">
            <a:avLst/>
          </a:prstGeom>
          <a:noFill/>
          <a:ln/>
        </p:spPr>
        <p:txBody>
          <a:bodyPr wrap="square" lIns="0" tIns="0" rIns="0" bIns="0" rtlCol="0" anchor="t"/>
          <a:lstStyle/>
          <a:p>
            <a:pPr indent="0" marL="0">
              <a:buNone/>
            </a:pPr>
            <a:r>
              <a:rPr lang="en-US" sz="1300" dirty="0">
                <a:solidFill>
                  <a:schemeClr val="tx1"/>
                </a:solidFill>
              </a:rPr>
              <a:t>Three-way handshake: SYN, SYN-ACK, ACK to destination port 80</a:t>
            </a:r>
            <a:endParaRPr lang="en-US" sz="1300" dirty="0"/>
          </a:p>
        </p:txBody>
      </p:sp>
      <p:sp>
        <p:nvSpPr>
          <p:cNvPr id="19" name="Step card HTTP"/>
          <p:cNvSpPr/>
          <p:nvPr/>
        </p:nvSpPr>
        <p:spPr>
          <a:xfrm>
            <a:off x="6766560" y="1188720"/>
            <a:ext cx="1920240" cy="2103120"/>
          </a:xfrm>
          <a:prstGeom prst="roundRect">
            <a:avLst>
              <a:gd name="adj" fmla="val 3810"/>
            </a:avLst>
          </a:prstGeom>
          <a:solidFill>
            <a:schemeClr val="bg2"/>
          </a:solidFill>
          <a:ln/>
        </p:spPr>
      </p:sp>
      <p:sp>
        <p:nvSpPr>
          <p:cNvPr id="20" name="Step number 4"/>
          <p:cNvSpPr/>
          <p:nvPr/>
        </p:nvSpPr>
        <p:spPr>
          <a:xfrm>
            <a:off x="6903720" y="1325880"/>
            <a:ext cx="457200" cy="457200"/>
          </a:xfrm>
          <a:prstGeom prst="ellipse">
            <a:avLst/>
          </a:prstGeom>
          <a:solidFill>
            <a:schemeClr val="accent2"/>
          </a:solidFill>
          <a:ln/>
        </p:spPr>
      </p:sp>
      <p:sp>
        <p:nvSpPr>
          <p:cNvPr id="21" name="Step number 4 label"/>
          <p:cNvSpPr txBox="1"/>
          <p:nvPr/>
        </p:nvSpPr>
        <p:spPr>
          <a:xfrm>
            <a:off x="690372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22" name="Step title HTTP"/>
          <p:cNvSpPr txBox="1"/>
          <p:nvPr/>
        </p:nvSpPr>
        <p:spPr>
          <a:xfrm>
            <a:off x="7498080" y="1325880"/>
            <a:ext cx="1097280" cy="457200"/>
          </a:xfrm>
          <a:prstGeom prst="rect">
            <a:avLst/>
          </a:prstGeom>
          <a:noFill/>
          <a:ln/>
        </p:spPr>
        <p:txBody>
          <a:bodyPr wrap="square" lIns="0" tIns="0" rIns="0" bIns="0" rtlCol="0" anchor="ctr"/>
          <a:lstStyle/>
          <a:p>
            <a:pPr indent="0" marL="0">
              <a:buNone/>
            </a:pPr>
            <a:r>
              <a:rPr lang="en-US" sz="1800" b="1" dirty="0">
                <a:solidFill>
                  <a:schemeClr val="tx2"/>
                </a:solidFill>
              </a:rPr>
              <a:t>HTTP</a:t>
            </a:r>
            <a:endParaRPr lang="en-US" sz="1800" dirty="0"/>
          </a:p>
        </p:txBody>
      </p:sp>
      <p:sp>
        <p:nvSpPr>
          <p:cNvPr id="23" name="Step text HTTP"/>
          <p:cNvSpPr txBox="1"/>
          <p:nvPr/>
        </p:nvSpPr>
        <p:spPr>
          <a:xfrm>
            <a:off x="6903720" y="1920240"/>
            <a:ext cx="1645920" cy="1280160"/>
          </a:xfrm>
          <a:prstGeom prst="rect">
            <a:avLst/>
          </a:prstGeom>
          <a:noFill/>
          <a:ln/>
        </p:spPr>
        <p:txBody>
          <a:bodyPr wrap="square" lIns="0" tIns="0" rIns="0" bIns="0" rtlCol="0" anchor="t"/>
          <a:lstStyle/>
          <a:p>
            <a:pPr indent="0" marL="0">
              <a:buNone/>
            </a:pPr>
            <a:r>
              <a:rPr lang="en-US" sz="1300" dirty="0">
                <a:solidFill>
                  <a:schemeClr val="tx1"/>
                </a:solidFill>
              </a:rPr>
              <a:t>GET request, 200 OK with the page, then FIN closes the connection</a:t>
            </a:r>
            <a:endParaRPr lang="en-US" sz="1300" dirty="0"/>
          </a:p>
        </p:txBody>
      </p:sp>
      <p:sp>
        <p:nvSpPr>
          <p:cNvPr id="24" name="Demo card"/>
          <p:cNvSpPr/>
          <p:nvPr/>
        </p:nvSpPr>
        <p:spPr>
          <a:xfrm>
            <a:off x="457200" y="3474720"/>
            <a:ext cx="4023360" cy="1143000"/>
          </a:xfrm>
          <a:prstGeom prst="roundRect">
            <a:avLst>
              <a:gd name="adj" fmla="val 6400"/>
            </a:avLst>
          </a:prstGeom>
          <a:solidFill>
            <a:schemeClr val="bg2"/>
          </a:solidFill>
          <a:ln/>
        </p:spPr>
      </p:sp>
      <p:sp>
        <p:nvSpPr>
          <p:cNvPr id="25" name="Demo text"/>
          <p:cNvSpPr txBox="1"/>
          <p:nvPr/>
        </p:nvSpPr>
        <p:spPr>
          <a:xfrm>
            <a:off x="640080" y="3474720"/>
            <a:ext cx="3657600" cy="1143000"/>
          </a:xfrm>
          <a:prstGeom prst="rect">
            <a:avLst/>
          </a:prstGeom>
          <a:noFill/>
          <a:ln/>
        </p:spPr>
        <p:txBody>
          <a:bodyPr wrap="square" lIns="0" tIns="0" rIns="0" bIns="0" rtlCol="0" anchor="ctr"/>
          <a:lstStyle/>
          <a:p>
            <a:pPr indent="0" marL="0">
              <a:buNone/>
            </a:pPr>
            <a:r>
              <a:rPr lang="en-US" sz="1400" b="1" dirty="0">
                <a:solidFill>
                  <a:schemeClr val="accent1"/>
                </a:solidFill>
              </a:rPr>
              <a:t>Demo. </a:t>
            </a:r>
            <a:pPr indent="0" marL="0">
              <a:buNone/>
            </a:pPr>
            <a:r>
              <a:rPr lang="en-US" sz="1400" dirty="0">
                <a:solidFill>
                  <a:schemeClr val="tx1"/>
                </a:solidFill>
              </a:rPr>
              <a:t>Open http://intranet.office.local on PC-OPS1 and step through the events in Simulation mode.</a:t>
            </a:r>
            <a:endParaRPr lang="en-US" sz="1400" dirty="0"/>
          </a:p>
        </p:txBody>
      </p:sp>
      <p:sp>
        <p:nvSpPr>
          <p:cNvPr id="26" name="Key point card"/>
          <p:cNvSpPr/>
          <p:nvPr/>
        </p:nvSpPr>
        <p:spPr>
          <a:xfrm>
            <a:off x="4663440" y="3474720"/>
            <a:ext cx="4023360" cy="1143000"/>
          </a:xfrm>
          <a:prstGeom prst="roundRect">
            <a:avLst>
              <a:gd name="adj" fmla="val 6400"/>
            </a:avLst>
          </a:prstGeom>
          <a:solidFill>
            <a:schemeClr val="tx2"/>
          </a:solidFill>
          <a:ln/>
        </p:spPr>
      </p:sp>
      <p:sp>
        <p:nvSpPr>
          <p:cNvPr id="27" name="Key point text"/>
          <p:cNvSpPr txBox="1"/>
          <p:nvPr/>
        </p:nvSpPr>
        <p:spPr>
          <a:xfrm>
            <a:off x="4846320" y="3474720"/>
            <a:ext cx="3657600" cy="1143000"/>
          </a:xfrm>
          <a:prstGeom prst="rect">
            <a:avLst/>
          </a:prstGeom>
          <a:noFill/>
          <a:ln/>
        </p:spPr>
        <p:txBody>
          <a:bodyPr wrap="square" lIns="0" tIns="0" rIns="0" bIns="0" rtlCol="0" anchor="ctr"/>
          <a:lstStyle/>
          <a:p>
            <a:pPr indent="0" marL="0">
              <a:buNone/>
            </a:pPr>
            <a:r>
              <a:rPr lang="en-US" sz="1400" b="1" dirty="0">
                <a:solidFill>
                  <a:schemeClr val="accent2"/>
                </a:solidFill>
              </a:rPr>
              <a:t>Key point. </a:t>
            </a:r>
            <a:pPr indent="0" marL="0">
              <a:buNone/>
            </a:pPr>
            <a:r>
              <a:rPr lang="en-US" sz="1400" dirty="0">
                <a:solidFill>
                  <a:schemeClr val="bg1"/>
                </a:solidFill>
              </a:rPr>
              <a:t>IP addresses stay the same end to end. MAC addresses change at every router hop.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Security: SSH, port security, unused ports</a:t>
            </a:r>
            <a:endParaRPr lang="en-US" sz="3000" dirty="0"/>
          </a:p>
        </p:txBody>
      </p:sp>
      <p:sp>
        <p:nvSpPr>
          <p:cNvPr id="4" name="Security card 1"/>
          <p:cNvSpPr/>
          <p:nvPr/>
        </p:nvSpPr>
        <p:spPr>
          <a:xfrm>
            <a:off x="457200" y="1188720"/>
            <a:ext cx="2651760" cy="2834640"/>
          </a:xfrm>
          <a:prstGeom prst="roundRect">
            <a:avLst>
              <a:gd name="adj" fmla="val 2759"/>
            </a:avLst>
          </a:prstGeom>
          <a:solidFill>
            <a:schemeClr val="bg2"/>
          </a:solidFill>
          <a:ln/>
        </p:spPr>
      </p:sp>
      <p:sp>
        <p:nvSpPr>
          <p:cNvPr id="5" name="Security number 1"/>
          <p:cNvSpPr/>
          <p:nvPr/>
        </p:nvSpPr>
        <p:spPr>
          <a:xfrm>
            <a:off x="640080" y="1325880"/>
            <a:ext cx="457200" cy="457200"/>
          </a:xfrm>
          <a:prstGeom prst="ellipse">
            <a:avLst/>
          </a:prstGeom>
          <a:solidFill>
            <a:schemeClr val="accent1"/>
          </a:solidFill>
          <a:ln/>
        </p:spPr>
      </p:sp>
      <p:sp>
        <p:nvSpPr>
          <p:cNvPr id="6" name="Security number 1 label"/>
          <p:cNvSpPr txBox="1"/>
          <p:nvPr/>
        </p:nvSpPr>
        <p:spPr>
          <a:xfrm>
            <a:off x="64008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Security title 1"/>
          <p:cNvSpPr txBox="1"/>
          <p:nvPr/>
        </p:nvSpPr>
        <p:spPr>
          <a:xfrm>
            <a:off x="1234440"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SSH, not Telnet</a:t>
            </a:r>
            <a:endParaRPr lang="en-US" sz="1600" dirty="0"/>
          </a:p>
        </p:txBody>
      </p:sp>
      <p:sp>
        <p:nvSpPr>
          <p:cNvPr id="8" name="Security text 1"/>
          <p:cNvSpPr txBox="1"/>
          <p:nvPr/>
        </p:nvSpPr>
        <p:spPr>
          <a:xfrm>
            <a:off x="640080" y="1965960"/>
            <a:ext cx="23317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Telnet sends passwords in clear text</a:t>
            </a:r>
            <a:endParaRPr lang="en-US" sz="1300" dirty="0"/>
          </a:p>
          <a:p>
            <a:pPr marL="342900" indent="-342900">
              <a:spcAft>
                <a:spcPts val="600"/>
              </a:spcAft>
              <a:buSzPct val="100000"/>
              <a:buChar char="•"/>
            </a:pPr>
            <a:r>
              <a:rPr lang="en-US" sz="1300" dirty="0">
                <a:solidFill>
                  <a:schemeClr val="tx1"/>
                </a:solidFill>
              </a:rPr>
              <a:t>Domain name, RSA 2048, SSH version 2</a:t>
            </a:r>
            <a:endParaRPr lang="en-US" sz="1300" dirty="0"/>
          </a:p>
          <a:p>
            <a:pPr marL="342900" indent="-342900">
              <a:spcAft>
                <a:spcPts val="600"/>
              </a:spcAft>
              <a:buSzPct val="100000"/>
              <a:buChar char="•"/>
            </a:pPr>
            <a:r>
              <a:rPr lang="en-US" sz="1300" dirty="0">
                <a:solidFill>
                  <a:schemeClr val="tx1"/>
                </a:solidFill>
              </a:rPr>
              <a:t>transport input ssh, login local</a:t>
            </a:r>
            <a:endParaRPr lang="en-US" sz="1300" dirty="0"/>
          </a:p>
          <a:p>
            <a:pPr marL="342900" indent="-342900">
              <a:spcAft>
                <a:spcPts val="600"/>
              </a:spcAft>
              <a:buSzPct val="100000"/>
              <a:buChar char="•"/>
            </a:pPr>
            <a:r>
              <a:rPr lang="en-US" sz="1300" dirty="0">
                <a:solidFill>
                  <a:schemeClr val="tx1"/>
                </a:solidFill>
              </a:rPr>
              <a:t>Telnet is now refused</a:t>
            </a:r>
            <a:endParaRPr lang="en-US" sz="1300" dirty="0"/>
          </a:p>
        </p:txBody>
      </p:sp>
      <p:sp>
        <p:nvSpPr>
          <p:cNvPr id="9" name="Security card 2"/>
          <p:cNvSpPr/>
          <p:nvPr/>
        </p:nvSpPr>
        <p:spPr>
          <a:xfrm>
            <a:off x="3246120" y="1188720"/>
            <a:ext cx="2651760" cy="2834640"/>
          </a:xfrm>
          <a:prstGeom prst="roundRect">
            <a:avLst>
              <a:gd name="adj" fmla="val 2759"/>
            </a:avLst>
          </a:prstGeom>
          <a:solidFill>
            <a:schemeClr val="bg2"/>
          </a:solidFill>
          <a:ln/>
        </p:spPr>
      </p:sp>
      <p:sp>
        <p:nvSpPr>
          <p:cNvPr id="10" name="Security number 2"/>
          <p:cNvSpPr/>
          <p:nvPr/>
        </p:nvSpPr>
        <p:spPr>
          <a:xfrm>
            <a:off x="3429000" y="1325880"/>
            <a:ext cx="457200" cy="457200"/>
          </a:xfrm>
          <a:prstGeom prst="ellipse">
            <a:avLst/>
          </a:prstGeom>
          <a:solidFill>
            <a:schemeClr val="accent1"/>
          </a:solidFill>
          <a:ln/>
        </p:spPr>
      </p:sp>
      <p:sp>
        <p:nvSpPr>
          <p:cNvPr id="11" name="Security number 2 label"/>
          <p:cNvSpPr txBox="1"/>
          <p:nvPr/>
        </p:nvSpPr>
        <p:spPr>
          <a:xfrm>
            <a:off x="342900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Security title 2"/>
          <p:cNvSpPr txBox="1"/>
          <p:nvPr/>
        </p:nvSpPr>
        <p:spPr>
          <a:xfrm>
            <a:off x="4023360"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Port security</a:t>
            </a:r>
            <a:endParaRPr lang="en-US" sz="1600" dirty="0"/>
          </a:p>
        </p:txBody>
      </p:sp>
      <p:sp>
        <p:nvSpPr>
          <p:cNvPr id="13" name="Security text 2"/>
          <p:cNvSpPr txBox="1"/>
          <p:nvPr/>
        </p:nvSpPr>
        <p:spPr>
          <a:xfrm>
            <a:off x="3429000" y="1965960"/>
            <a:ext cx="23317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Sticky MAC, maximum 1 per port</a:t>
            </a:r>
            <a:endParaRPr lang="en-US" sz="1300" dirty="0"/>
          </a:p>
          <a:p>
            <a:pPr marL="342900" indent="-342900">
              <a:spcAft>
                <a:spcPts val="600"/>
              </a:spcAft>
              <a:buSzPct val="100000"/>
              <a:buChar char="•"/>
            </a:pPr>
            <a:r>
              <a:rPr lang="en-US" sz="1300" dirty="0">
                <a:solidFill>
                  <a:schemeClr val="tx1"/>
                </a:solidFill>
              </a:rPr>
              <a:t>Violation mode: shutdown</a:t>
            </a:r>
            <a:endParaRPr lang="en-US" sz="1300" dirty="0"/>
          </a:p>
          <a:p>
            <a:pPr marL="342900" indent="-342900">
              <a:spcAft>
                <a:spcPts val="600"/>
              </a:spcAft>
              <a:buSzPct val="100000"/>
              <a:buChar char="•"/>
            </a:pPr>
            <a:r>
              <a:rPr lang="en-US" sz="1300" dirty="0">
                <a:solidFill>
                  <a:schemeClr val="tx1"/>
                </a:solidFill>
              </a:rPr>
              <a:t>Demo: swap two PC cables, ports go err-disabled</a:t>
            </a:r>
            <a:endParaRPr lang="en-US" sz="1300" dirty="0"/>
          </a:p>
          <a:p>
            <a:pPr marL="342900" indent="-342900">
              <a:spcAft>
                <a:spcPts val="600"/>
              </a:spcAft>
              <a:buSzPct val="100000"/>
              <a:buChar char="•"/>
            </a:pPr>
            <a:r>
              <a:rPr lang="en-US" sz="1300" dirty="0">
                <a:solidFill>
                  <a:schemeClr val="tx1"/>
                </a:solidFill>
              </a:rPr>
              <a:t>Recover: shutdown, then no shutdown</a:t>
            </a:r>
            <a:endParaRPr lang="en-US" sz="1300" dirty="0"/>
          </a:p>
        </p:txBody>
      </p:sp>
      <p:sp>
        <p:nvSpPr>
          <p:cNvPr id="14" name="Security card 3"/>
          <p:cNvSpPr/>
          <p:nvPr/>
        </p:nvSpPr>
        <p:spPr>
          <a:xfrm>
            <a:off x="6035040" y="1188720"/>
            <a:ext cx="2651760" cy="2834640"/>
          </a:xfrm>
          <a:prstGeom prst="roundRect">
            <a:avLst>
              <a:gd name="adj" fmla="val 2759"/>
            </a:avLst>
          </a:prstGeom>
          <a:solidFill>
            <a:schemeClr val="bg2"/>
          </a:solidFill>
          <a:ln/>
        </p:spPr>
      </p:sp>
      <p:sp>
        <p:nvSpPr>
          <p:cNvPr id="15" name="Security number 3"/>
          <p:cNvSpPr/>
          <p:nvPr/>
        </p:nvSpPr>
        <p:spPr>
          <a:xfrm>
            <a:off x="6217920" y="1325880"/>
            <a:ext cx="457200" cy="457200"/>
          </a:xfrm>
          <a:prstGeom prst="ellipse">
            <a:avLst/>
          </a:prstGeom>
          <a:solidFill>
            <a:schemeClr val="accent1"/>
          </a:solidFill>
          <a:ln/>
        </p:spPr>
      </p:sp>
      <p:sp>
        <p:nvSpPr>
          <p:cNvPr id="16" name="Security number 3 label"/>
          <p:cNvSpPr txBox="1"/>
          <p:nvPr/>
        </p:nvSpPr>
        <p:spPr>
          <a:xfrm>
            <a:off x="621792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7" name="Security title 3"/>
          <p:cNvSpPr txBox="1"/>
          <p:nvPr/>
        </p:nvSpPr>
        <p:spPr>
          <a:xfrm>
            <a:off x="6812280" y="13258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Unused ports shut</a:t>
            </a:r>
            <a:endParaRPr lang="en-US" sz="1600" dirty="0"/>
          </a:p>
        </p:txBody>
      </p:sp>
      <p:sp>
        <p:nvSpPr>
          <p:cNvPr id="18" name="Security text 3"/>
          <p:cNvSpPr txBox="1"/>
          <p:nvPr/>
        </p:nvSpPr>
        <p:spPr>
          <a:xfrm>
            <a:off x="6217920" y="1965960"/>
            <a:ext cx="233172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Fa0/4 to Fa0/24 and Gi0/2 on every switch</a:t>
            </a:r>
            <a:endParaRPr lang="en-US" sz="1300" dirty="0"/>
          </a:p>
          <a:p>
            <a:pPr marL="342900" indent="-342900">
              <a:spcAft>
                <a:spcPts val="600"/>
              </a:spcAft>
              <a:buSzPct val="100000"/>
              <a:buChar char="•"/>
            </a:pPr>
            <a:r>
              <a:rPr lang="en-US" sz="1300" dirty="0">
                <a:solidFill>
                  <a:schemeClr val="tx1"/>
                </a:solidFill>
              </a:rPr>
              <a:t>Described as UNUSED</a:t>
            </a:r>
            <a:endParaRPr lang="en-US" sz="1300" dirty="0"/>
          </a:p>
          <a:p>
            <a:pPr marL="342900" indent="-342900">
              <a:spcAft>
                <a:spcPts val="600"/>
              </a:spcAft>
              <a:buSzPct val="100000"/>
              <a:buChar char="•"/>
            </a:pPr>
            <a:r>
              <a:rPr lang="en-US" sz="1300" dirty="0">
                <a:solidFill>
                  <a:schemeClr val="tx1"/>
                </a:solidFill>
              </a:rPr>
              <a:t>Uplink Gi0/1 stays up</a:t>
            </a:r>
            <a:endParaRPr lang="en-US" sz="1300" dirty="0"/>
          </a:p>
          <a:p>
            <a:pPr marL="342900" indent="-342900">
              <a:spcAft>
                <a:spcPts val="600"/>
              </a:spcAft>
              <a:buSzPct val="100000"/>
              <a:buChar char="•"/>
            </a:pPr>
            <a:r>
              <a:rPr lang="en-US" sz="1300" dirty="0">
                <a:solidFill>
                  <a:schemeClr val="tx1"/>
                </a:solidFill>
              </a:rPr>
              <a:t>Checked with show interfaces status</a:t>
            </a:r>
            <a:endParaRPr lang="en-US" sz="1300" dirty="0"/>
          </a:p>
        </p:txBody>
      </p:sp>
      <p:sp>
        <p:nvSpPr>
          <p:cNvPr id="19" name="Evidence strip"/>
          <p:cNvSpPr/>
          <p:nvPr/>
        </p:nvSpPr>
        <p:spPr>
          <a:xfrm>
            <a:off x="457200" y="4160520"/>
            <a:ext cx="8229600" cy="457200"/>
          </a:xfrm>
          <a:prstGeom prst="roundRect">
            <a:avLst>
              <a:gd name="adj" fmla="val 16000"/>
            </a:avLst>
          </a:prstGeom>
          <a:solidFill>
            <a:schemeClr val="tx2"/>
          </a:solidFill>
          <a:ln/>
        </p:spPr>
      </p:sp>
      <p:sp>
        <p:nvSpPr>
          <p:cNvPr id="20" name="Evidence text"/>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400" dirty="0">
                <a:solidFill>
                  <a:schemeClr val="bg1"/>
                </a:solidFill>
              </a:rPr>
              <a:t>Evidence: a security checklist for every device, and every configuration saved to NVRAM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Troubleshooting with a four-step ticket</a:t>
            </a:r>
            <a:endParaRPr lang="en-US" sz="3000" dirty="0"/>
          </a:p>
        </p:txBody>
      </p:sp>
      <p:sp>
        <p:nvSpPr>
          <p:cNvPr id="4" name="Method step 1"/>
          <p:cNvSpPr/>
          <p:nvPr/>
        </p:nvSpPr>
        <p:spPr>
          <a:xfrm>
            <a:off x="457200" y="1188720"/>
            <a:ext cx="1920240" cy="640080"/>
          </a:xfrm>
          <a:prstGeom prst="roundRect">
            <a:avLst>
              <a:gd name="adj" fmla="val 11429"/>
            </a:avLst>
          </a:prstGeom>
          <a:solidFill>
            <a:schemeClr val="tx2"/>
          </a:solidFill>
          <a:ln/>
        </p:spPr>
      </p:sp>
      <p:sp>
        <p:nvSpPr>
          <p:cNvPr id="5" name="Method label 1"/>
          <p:cNvSpPr txBox="1"/>
          <p:nvPr/>
        </p:nvSpPr>
        <p:spPr>
          <a:xfrm>
            <a:off x="457200" y="1188720"/>
            <a:ext cx="1920240" cy="640080"/>
          </a:xfrm>
          <a:prstGeom prst="rect">
            <a:avLst/>
          </a:prstGeom>
          <a:noFill/>
          <a:ln/>
        </p:spPr>
        <p:txBody>
          <a:bodyPr wrap="square" lIns="0" tIns="0" rIns="0" bIns="0" rtlCol="0" anchor="ctr"/>
          <a:lstStyle/>
          <a:p>
            <a:pPr algn="ctr" indent="0" marL="0">
              <a:buNone/>
            </a:pPr>
            <a:r>
              <a:rPr lang="en-US" sz="1600" b="1" dirty="0">
                <a:solidFill>
                  <a:schemeClr val="bg1"/>
                </a:solidFill>
              </a:rPr>
              <a:t>1  Problem</a:t>
            </a:r>
            <a:endParaRPr lang="en-US" sz="1600" dirty="0"/>
          </a:p>
        </p:txBody>
      </p:sp>
      <p:sp>
        <p:nvSpPr>
          <p:cNvPr id="6" name="Method step 2"/>
          <p:cNvSpPr/>
          <p:nvPr/>
        </p:nvSpPr>
        <p:spPr>
          <a:xfrm>
            <a:off x="2560320" y="1188720"/>
            <a:ext cx="1920240" cy="640080"/>
          </a:xfrm>
          <a:prstGeom prst="roundRect">
            <a:avLst>
              <a:gd name="adj" fmla="val 11429"/>
            </a:avLst>
          </a:prstGeom>
          <a:solidFill>
            <a:schemeClr val="tx2"/>
          </a:solidFill>
          <a:ln/>
        </p:spPr>
      </p:sp>
      <p:sp>
        <p:nvSpPr>
          <p:cNvPr id="7" name="Method label 2"/>
          <p:cNvSpPr txBox="1"/>
          <p:nvPr/>
        </p:nvSpPr>
        <p:spPr>
          <a:xfrm>
            <a:off x="2560320" y="1188720"/>
            <a:ext cx="1920240" cy="640080"/>
          </a:xfrm>
          <a:prstGeom prst="rect">
            <a:avLst/>
          </a:prstGeom>
          <a:noFill/>
          <a:ln/>
        </p:spPr>
        <p:txBody>
          <a:bodyPr wrap="square" lIns="0" tIns="0" rIns="0" bIns="0" rtlCol="0" anchor="ctr"/>
          <a:lstStyle/>
          <a:p>
            <a:pPr algn="ctr" indent="0" marL="0">
              <a:buNone/>
            </a:pPr>
            <a:r>
              <a:rPr lang="en-US" sz="1600" b="1" dirty="0">
                <a:solidFill>
                  <a:schemeClr val="bg1"/>
                </a:solidFill>
              </a:rPr>
              <a:t>2  Diagnosis</a:t>
            </a:r>
            <a:endParaRPr lang="en-US" sz="1600" dirty="0"/>
          </a:p>
        </p:txBody>
      </p:sp>
      <p:sp>
        <p:nvSpPr>
          <p:cNvPr id="8" name="Method step 3"/>
          <p:cNvSpPr/>
          <p:nvPr/>
        </p:nvSpPr>
        <p:spPr>
          <a:xfrm>
            <a:off x="4663440" y="1188720"/>
            <a:ext cx="1920240" cy="640080"/>
          </a:xfrm>
          <a:prstGeom prst="roundRect">
            <a:avLst>
              <a:gd name="adj" fmla="val 11429"/>
            </a:avLst>
          </a:prstGeom>
          <a:solidFill>
            <a:schemeClr val="tx2"/>
          </a:solidFill>
          <a:ln/>
        </p:spPr>
      </p:sp>
      <p:sp>
        <p:nvSpPr>
          <p:cNvPr id="9" name="Method label 3"/>
          <p:cNvSpPr txBox="1"/>
          <p:nvPr/>
        </p:nvSpPr>
        <p:spPr>
          <a:xfrm>
            <a:off x="4663440" y="1188720"/>
            <a:ext cx="1920240" cy="640080"/>
          </a:xfrm>
          <a:prstGeom prst="rect">
            <a:avLst/>
          </a:prstGeom>
          <a:noFill/>
          <a:ln/>
        </p:spPr>
        <p:txBody>
          <a:bodyPr wrap="square" lIns="0" tIns="0" rIns="0" bIns="0" rtlCol="0" anchor="ctr"/>
          <a:lstStyle/>
          <a:p>
            <a:pPr algn="ctr" indent="0" marL="0">
              <a:buNone/>
            </a:pPr>
            <a:r>
              <a:rPr lang="en-US" sz="1600" b="1" dirty="0">
                <a:solidFill>
                  <a:schemeClr val="bg1"/>
                </a:solidFill>
              </a:rPr>
              <a:t>3  Solution</a:t>
            </a:r>
            <a:endParaRPr lang="en-US" sz="1600" dirty="0"/>
          </a:p>
        </p:txBody>
      </p:sp>
      <p:sp>
        <p:nvSpPr>
          <p:cNvPr id="10" name="Method step 4"/>
          <p:cNvSpPr/>
          <p:nvPr/>
        </p:nvSpPr>
        <p:spPr>
          <a:xfrm>
            <a:off x="6766560" y="1188720"/>
            <a:ext cx="1920240" cy="640080"/>
          </a:xfrm>
          <a:prstGeom prst="roundRect">
            <a:avLst>
              <a:gd name="adj" fmla="val 11429"/>
            </a:avLst>
          </a:prstGeom>
          <a:solidFill>
            <a:schemeClr val="tx2"/>
          </a:solidFill>
          <a:ln/>
        </p:spPr>
      </p:sp>
      <p:sp>
        <p:nvSpPr>
          <p:cNvPr id="11" name="Method label 4"/>
          <p:cNvSpPr txBox="1"/>
          <p:nvPr/>
        </p:nvSpPr>
        <p:spPr>
          <a:xfrm>
            <a:off x="6766560" y="1188720"/>
            <a:ext cx="1920240" cy="640080"/>
          </a:xfrm>
          <a:prstGeom prst="rect">
            <a:avLst/>
          </a:prstGeom>
          <a:noFill/>
          <a:ln/>
        </p:spPr>
        <p:txBody>
          <a:bodyPr wrap="square" lIns="0" tIns="0" rIns="0" bIns="0" rtlCol="0" anchor="ctr"/>
          <a:lstStyle/>
          <a:p>
            <a:pPr algn="ctr" indent="0" marL="0">
              <a:buNone/>
            </a:pPr>
            <a:r>
              <a:rPr lang="en-US" sz="1600" b="1" dirty="0">
                <a:solidFill>
                  <a:schemeClr val="bg1"/>
                </a:solidFill>
              </a:rPr>
              <a:t>4  Verification</a:t>
            </a:r>
            <a:endParaRPr lang="en-US" sz="1600" dirty="0"/>
          </a:p>
        </p:txBody>
      </p:sp>
      <p:sp>
        <p:nvSpPr>
          <p:cNvPr id="12" name="Ticket card"/>
          <p:cNvSpPr/>
          <p:nvPr/>
        </p:nvSpPr>
        <p:spPr>
          <a:xfrm>
            <a:off x="457200" y="2057400"/>
            <a:ext cx="4023360" cy="2560320"/>
          </a:xfrm>
          <a:prstGeom prst="roundRect">
            <a:avLst>
              <a:gd name="adj" fmla="val 2857"/>
            </a:avLst>
          </a:prstGeom>
          <a:solidFill>
            <a:schemeClr val="bg2"/>
          </a:solidFill>
          <a:ln/>
        </p:spPr>
      </p:sp>
      <p:sp>
        <p:nvSpPr>
          <p:cNvPr id="13" name="Ticket text"/>
          <p:cNvSpPr txBox="1"/>
          <p:nvPr/>
        </p:nvSpPr>
        <p:spPr>
          <a:xfrm>
            <a:off x="640080" y="2194560"/>
            <a:ext cx="3657600" cy="233172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Example ticket: wrong gateway</a:t>
            </a:r>
            <a:endParaRPr lang="en-US" sz="1300" dirty="0"/>
          </a:p>
          <a:p>
            <a:pPr indent="0" marL="0">
              <a:buNone/>
            </a:pPr>
            <a:r>
              <a:rPr lang="en-US" sz="1300" b="1" dirty="0">
                <a:solidFill>
                  <a:schemeClr val="tx1"/>
                </a:solidFill>
              </a:rPr>
              <a:t>Problem: </a:t>
            </a:r>
            <a:pPr indent="0" marL="0">
              <a:spcAft>
                <a:spcPts val="300"/>
              </a:spcAft>
              <a:buNone/>
            </a:pPr>
            <a:r>
              <a:rPr lang="en-US" sz="1300" dirty="0">
                <a:solidFill>
                  <a:schemeClr val="tx1"/>
                </a:solidFill>
              </a:rPr>
              <a:t>PC-IT1 reaches its own LAN, nothing else</a:t>
            </a:r>
            <a:endParaRPr lang="en-US" sz="1300" dirty="0"/>
          </a:p>
          <a:p>
            <a:pPr indent="0" marL="0">
              <a:buNone/>
            </a:pPr>
            <a:r>
              <a:rPr lang="en-US" sz="1300" b="1" dirty="0">
                <a:solidFill>
                  <a:schemeClr val="tx1"/>
                </a:solidFill>
              </a:rPr>
              <a:t>Diagnosis: </a:t>
            </a:r>
            <a:pPr indent="0" marL="0">
              <a:spcAft>
                <a:spcPts val="300"/>
              </a:spcAft>
              <a:buNone/>
            </a:pPr>
            <a:r>
              <a:rPr lang="en-US" sz="1300" dirty="0">
                <a:solidFill>
                  <a:schemeClr val="tx1"/>
                </a:solidFill>
              </a:rPr>
              <a:t>ipconfig shows gateway 192.168.10.65; ping to it fails</a:t>
            </a:r>
            <a:endParaRPr lang="en-US" sz="1300" dirty="0"/>
          </a:p>
          <a:p>
            <a:pPr indent="0" marL="0">
              <a:buNone/>
            </a:pPr>
            <a:r>
              <a:rPr lang="en-US" sz="1300" b="1" dirty="0">
                <a:solidFill>
                  <a:schemeClr val="tx1"/>
                </a:solidFill>
              </a:rPr>
              <a:t>Solution: </a:t>
            </a:r>
            <a:pPr indent="0" marL="0">
              <a:spcAft>
                <a:spcPts val="300"/>
              </a:spcAft>
              <a:buNone/>
            </a:pPr>
            <a:r>
              <a:rPr lang="en-US" sz="1300" dirty="0">
                <a:solidFill>
                  <a:schemeClr val="tx1"/>
                </a:solidFill>
              </a:rPr>
              <a:t>set gateway 192.168.10.97</a:t>
            </a:r>
            <a:endParaRPr lang="en-US" sz="1300" dirty="0"/>
          </a:p>
          <a:p>
            <a:pPr indent="0" marL="0">
              <a:buNone/>
            </a:pPr>
            <a:r>
              <a:rPr lang="en-US" sz="1300" b="1" dirty="0">
                <a:solidFill>
                  <a:schemeClr val="tx1"/>
                </a:solidFill>
              </a:rPr>
              <a:t>Verification: </a:t>
            </a:r>
            <a:pPr indent="0" marL="0">
              <a:buNone/>
            </a:pPr>
            <a:r>
              <a:rPr lang="en-US" sz="1300" dirty="0">
                <a:solidFill>
                  <a:schemeClr val="tx1"/>
                </a:solidFill>
              </a:rPr>
              <a:t>ping Server-IT and PC-OPS1, re-run test plan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2057400"/>
          <a:ext cx="4023360" cy="914400"/>
        </p:xfrm>
        <a:graphic>
          <a:graphicData uri="http://schemas.openxmlformats.org/drawingml/2006/table">
            <a:tbl>
              <a:tblPr/>
              <a:tblGrid>
                <a:gridCol w="1737360"/>
                <a:gridCol w="2286000"/>
              </a:tblGrid>
              <a:tr h="502920">
                <a:tc>
                  <a:txBody>
                    <a:bodyPr/>
                    <a:lstStyle/>
                    <a:p>
                      <a:pPr indent="0" marL="0">
                        <a:buNone/>
                      </a:pPr>
                      <a:r>
                        <a:rPr lang="en-US" sz="1200" b="1" dirty="0">
                          <a:solidFill>
                            <a:schemeClr val="bg1"/>
                          </a:solidFill>
                        </a:rPr>
                        <a:t>Where the ping stops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Likely cause</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solidFill>
                      <a:schemeClr val="tx2"/>
                    </a:solidFill>
                  </a:tcPr>
                </a:tc>
              </a:tr>
              <a:tr h="502920">
                <a:tc>
                  <a:txBody>
                    <a:bodyPr/>
                    <a:lstStyle/>
                    <a:p>
                      <a:pPr indent="0" marL="0">
                        <a:buNone/>
                      </a:pPr>
                      <a:r>
                        <a:rPr lang="en-US" sz="1200" dirty="0">
                          <a:solidFill>
                            <a:schemeClr val="tx1"/>
                          </a:solidFill>
                        </a:rPr>
                        <a:t>Cannot ping the gateway</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Wrong gateway or mask, router interface down</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02920">
                <a:tc>
                  <a:txBody>
                    <a:bodyPr/>
                    <a:lstStyle/>
                    <a:p>
                      <a:pPr indent="0" marL="0">
                        <a:buNone/>
                      </a:pPr>
                      <a:r>
                        <a:rPr lang="en-US" sz="1200" dirty="0">
                          <a:solidFill>
                            <a:schemeClr val="tx1"/>
                          </a:solidFill>
                        </a:rPr>
                        <a:t>Gateway works, other LAN fails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Router, destination or its mask</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02920">
                <a:tc>
                  <a:txBody>
                    <a:bodyPr/>
                    <a:lstStyle/>
                    <a:p>
                      <a:pPr indent="0" marL="0">
                        <a:buNone/>
                      </a:pPr>
                      <a:r>
                        <a:rPr lang="en-US" sz="1200" dirty="0">
                          <a:solidFill>
                            <a:schemeClr val="tx1"/>
                          </a:solidFill>
                        </a:rPr>
                        <a:t>IP works, name fails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DNS address or DNS records</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r h="502920">
                <a:tc>
                  <a:txBody>
                    <a:bodyPr/>
                    <a:lstStyle/>
                    <a:p>
                      <a:pPr indent="0" marL="0">
                        <a:buNone/>
                      </a:pPr>
                      <a:r>
                        <a:rPr lang="en-US" sz="1200" dirty="0">
                          <a:solidFill>
                            <a:schemeClr val="tx1"/>
                          </a:solidFill>
                        </a:rPr>
                        <a:t>Red link light</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c>
                  <a:txBody>
                    <a:bodyPr/>
                    <a:lstStyle/>
                    <a:p>
                      <a:pPr indent="0" marL="0">
                        <a:buNone/>
                      </a:pPr>
                      <a:r>
                        <a:rPr lang="en-US" sz="1200" dirty="0">
                          <a:solidFill>
                            <a:schemeClr val="tx1"/>
                          </a:solidFill>
                        </a:rPr>
                        <a:t>Cable type, port, shutdown, power</a:t>
                      </a:r>
                      <a:endParaRPr lang="en-US" sz="1200" dirty="0"/>
                    </a:p>
                  </a:txBody>
                  <a:tcPr marL="91440" marR="91440" marT="45720" marB="45720" anchor="ctr">
                    <a:lnL w="9525" cap="flat" cmpd="sng" algn="ctr">
                      <a:solidFill>
                        <a:srgbClr val="D5DEE3"/>
                      </a:solidFill>
                      <a:prstDash val="solid"/>
                      <a:round/>
                      <a:headEnd type="none" w="med" len="med"/>
                      <a:tailEnd type="none" w="med" len="med"/>
                    </a:lnL>
                    <a:lnR w="9525" cap="flat" cmpd="sng" algn="ctr">
                      <a:solidFill>
                        <a:srgbClr val="D5DEE3"/>
                      </a:solidFill>
                      <a:prstDash val="solid"/>
                      <a:round/>
                      <a:headEnd type="none" w="med" len="med"/>
                      <a:tailEnd type="none" w="med" len="med"/>
                    </a:lnR>
                    <a:lnT w="9525" cap="flat" cmpd="sng" algn="ctr">
                      <a:solidFill>
                        <a:srgbClr val="D5DEE3"/>
                      </a:solidFill>
                      <a:prstDash val="solid"/>
                      <a:round/>
                      <a:headEnd type="none" w="med" len="med"/>
                      <a:tailEnd type="none" w="med" len="med"/>
                    </a:lnT>
                    <a:lnB w="9525" cap="flat" cmpd="sng" algn="ctr">
                      <a:solidFill>
                        <a:srgbClr val="D5DE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packet journey: PC-OPS1 to the intranet</a:t>
            </a:r>
            <a:endParaRPr lang="en-US" sz="3000" dirty="0"/>
          </a:p>
        </p:txBody>
      </p:sp>
      <p:sp>
        <p:nvSpPr>
          <p:cNvPr id="4" name="Journey card 1"/>
          <p:cNvSpPr/>
          <p:nvPr/>
        </p:nvSpPr>
        <p:spPr>
          <a:xfrm>
            <a:off x="457200" y="1188720"/>
            <a:ext cx="4023360" cy="1051560"/>
          </a:xfrm>
          <a:prstGeom prst="roundRect">
            <a:avLst>
              <a:gd name="adj" fmla="val 6957"/>
            </a:avLst>
          </a:prstGeom>
          <a:solidFill>
            <a:schemeClr val="bg2"/>
          </a:solidFill>
          <a:ln/>
        </p:spPr>
      </p:sp>
      <p:sp>
        <p:nvSpPr>
          <p:cNvPr id="5" name="Journey number 1"/>
          <p:cNvSpPr/>
          <p:nvPr/>
        </p:nvSpPr>
        <p:spPr>
          <a:xfrm>
            <a:off x="594360" y="1325880"/>
            <a:ext cx="411480" cy="411480"/>
          </a:xfrm>
          <a:prstGeom prst="ellipse">
            <a:avLst/>
          </a:prstGeom>
          <a:solidFill>
            <a:schemeClr val="accent2"/>
          </a:solidFill>
          <a:ln/>
        </p:spPr>
      </p:sp>
      <p:sp>
        <p:nvSpPr>
          <p:cNvPr id="6" name="Journey number 1 label"/>
          <p:cNvSpPr txBox="1"/>
          <p:nvPr/>
        </p:nvSpPr>
        <p:spPr>
          <a:xfrm>
            <a:off x="594360" y="1325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Journey text 1"/>
          <p:cNvSpPr txBox="1"/>
          <p:nvPr/>
        </p:nvSpPr>
        <p:spPr>
          <a:xfrm>
            <a:off x="1143000" y="1261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DNS query</a:t>
            </a:r>
            <a:endParaRPr lang="en-US" sz="1400" dirty="0"/>
          </a:p>
          <a:p>
            <a:pPr indent="0" marL="0">
              <a:buNone/>
            </a:pPr>
            <a:r>
              <a:rPr lang="en-US" sz="1200" dirty="0">
                <a:solidFill>
                  <a:schemeClr val="tx1"/>
                </a:solidFill>
              </a:rPr>
              <a:t>UDP port 53 to 192.168.10.100. 70 AND /27 = 64 but the server is in 96, so it is remote: use the gateway</a:t>
            </a:r>
            <a:endParaRPr lang="en-US" sz="1400" dirty="0"/>
          </a:p>
        </p:txBody>
      </p:sp>
      <p:sp>
        <p:nvSpPr>
          <p:cNvPr id="8" name="Journey card 2"/>
          <p:cNvSpPr/>
          <p:nvPr/>
        </p:nvSpPr>
        <p:spPr>
          <a:xfrm>
            <a:off x="4663440" y="1188720"/>
            <a:ext cx="4023360" cy="1051560"/>
          </a:xfrm>
          <a:prstGeom prst="roundRect">
            <a:avLst>
              <a:gd name="adj" fmla="val 6957"/>
            </a:avLst>
          </a:prstGeom>
          <a:solidFill>
            <a:schemeClr val="bg2"/>
          </a:solidFill>
          <a:ln/>
        </p:spPr>
      </p:sp>
      <p:sp>
        <p:nvSpPr>
          <p:cNvPr id="9" name="Journey number 2"/>
          <p:cNvSpPr/>
          <p:nvPr/>
        </p:nvSpPr>
        <p:spPr>
          <a:xfrm>
            <a:off x="4800600" y="1325880"/>
            <a:ext cx="411480" cy="411480"/>
          </a:xfrm>
          <a:prstGeom prst="ellipse">
            <a:avLst/>
          </a:prstGeom>
          <a:solidFill>
            <a:schemeClr val="accent2"/>
          </a:solidFill>
          <a:ln/>
        </p:spPr>
      </p:sp>
      <p:sp>
        <p:nvSpPr>
          <p:cNvPr id="10" name="Journey number 2 label"/>
          <p:cNvSpPr txBox="1"/>
          <p:nvPr/>
        </p:nvSpPr>
        <p:spPr>
          <a:xfrm>
            <a:off x="4800600" y="1325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1" name="Journey text 2"/>
          <p:cNvSpPr txBox="1"/>
          <p:nvPr/>
        </p:nvSpPr>
        <p:spPr>
          <a:xfrm>
            <a:off x="5349240" y="1261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ARP for the gateway</a:t>
            </a:r>
            <a:endParaRPr lang="en-US" sz="1400" dirty="0"/>
          </a:p>
          <a:p>
            <a:pPr indent="0" marL="0">
              <a:buNone/>
            </a:pPr>
            <a:r>
              <a:rPr lang="en-US" sz="1200" dirty="0">
                <a:solidFill>
                  <a:schemeClr val="tx1"/>
                </a:solidFill>
              </a:rPr>
              <a:t>Broadcast asks who has 192.168.10.65. The router replies and the MAC is cached</a:t>
            </a:r>
            <a:endParaRPr lang="en-US" sz="1400" dirty="0"/>
          </a:p>
        </p:txBody>
      </p:sp>
      <p:sp>
        <p:nvSpPr>
          <p:cNvPr id="12" name="Journey card 3"/>
          <p:cNvSpPr/>
          <p:nvPr/>
        </p:nvSpPr>
        <p:spPr>
          <a:xfrm>
            <a:off x="457200" y="2331720"/>
            <a:ext cx="4023360" cy="1051560"/>
          </a:xfrm>
          <a:prstGeom prst="roundRect">
            <a:avLst>
              <a:gd name="adj" fmla="val 6957"/>
            </a:avLst>
          </a:prstGeom>
          <a:solidFill>
            <a:schemeClr val="bg2"/>
          </a:solidFill>
          <a:ln/>
        </p:spPr>
      </p:sp>
      <p:sp>
        <p:nvSpPr>
          <p:cNvPr id="13" name="Journey number 3"/>
          <p:cNvSpPr/>
          <p:nvPr/>
        </p:nvSpPr>
        <p:spPr>
          <a:xfrm>
            <a:off x="594360" y="2468880"/>
            <a:ext cx="411480" cy="411480"/>
          </a:xfrm>
          <a:prstGeom prst="ellipse">
            <a:avLst/>
          </a:prstGeom>
          <a:solidFill>
            <a:schemeClr val="accent2"/>
          </a:solidFill>
          <a:ln/>
        </p:spPr>
      </p:sp>
      <p:sp>
        <p:nvSpPr>
          <p:cNvPr id="14" name="Journey number 3 label"/>
          <p:cNvSpPr txBox="1"/>
          <p:nvPr/>
        </p:nvSpPr>
        <p:spPr>
          <a:xfrm>
            <a:off x="594360" y="2468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5" name="Journey text 3"/>
          <p:cNvSpPr txBox="1"/>
          <p:nvPr/>
        </p:nvSpPr>
        <p:spPr>
          <a:xfrm>
            <a:off x="1143000" y="2404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Frame to the router</a:t>
            </a:r>
            <a:endParaRPr lang="en-US" sz="1400" dirty="0"/>
          </a:p>
          <a:p>
            <a:pPr indent="0" marL="0">
              <a:buNone/>
            </a:pPr>
            <a:r>
              <a:rPr lang="en-US" sz="1200" dirty="0">
                <a:solidFill>
                  <a:schemeClr val="tx1"/>
                </a:solidFill>
              </a:rPr>
              <a:t>Source MAC PC-OPS1, destination MAC R-OFFICE G0/1; IPs .70 to .100; the switch forwards by its MAC table</a:t>
            </a:r>
            <a:endParaRPr lang="en-US" sz="1400" dirty="0"/>
          </a:p>
        </p:txBody>
      </p:sp>
      <p:sp>
        <p:nvSpPr>
          <p:cNvPr id="16" name="Journey card 4"/>
          <p:cNvSpPr/>
          <p:nvPr/>
        </p:nvSpPr>
        <p:spPr>
          <a:xfrm>
            <a:off x="4663440" y="2331720"/>
            <a:ext cx="4023360" cy="1051560"/>
          </a:xfrm>
          <a:prstGeom prst="roundRect">
            <a:avLst>
              <a:gd name="adj" fmla="val 6957"/>
            </a:avLst>
          </a:prstGeom>
          <a:solidFill>
            <a:schemeClr val="bg2"/>
          </a:solidFill>
          <a:ln/>
        </p:spPr>
      </p:sp>
      <p:sp>
        <p:nvSpPr>
          <p:cNvPr id="17" name="Journey number 4"/>
          <p:cNvSpPr/>
          <p:nvPr/>
        </p:nvSpPr>
        <p:spPr>
          <a:xfrm>
            <a:off x="4800600" y="2468880"/>
            <a:ext cx="411480" cy="411480"/>
          </a:xfrm>
          <a:prstGeom prst="ellipse">
            <a:avLst/>
          </a:prstGeom>
          <a:solidFill>
            <a:schemeClr val="accent2"/>
          </a:solidFill>
          <a:ln/>
        </p:spPr>
      </p:sp>
      <p:sp>
        <p:nvSpPr>
          <p:cNvPr id="18" name="Journey number 4 label"/>
          <p:cNvSpPr txBox="1"/>
          <p:nvPr/>
        </p:nvSpPr>
        <p:spPr>
          <a:xfrm>
            <a:off x="4800600" y="2468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9" name="Journey text 4"/>
          <p:cNvSpPr txBox="1"/>
          <p:nvPr/>
        </p:nvSpPr>
        <p:spPr>
          <a:xfrm>
            <a:off x="5349240" y="2404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Routing</a:t>
            </a:r>
            <a:endParaRPr lang="en-US" sz="1400" dirty="0"/>
          </a:p>
          <a:p>
            <a:pPr indent="0" marL="0">
              <a:buNone/>
            </a:pPr>
            <a:r>
              <a:rPr lang="en-US" sz="1200" dirty="0">
                <a:solidFill>
                  <a:schemeClr val="tx1"/>
                </a:solidFill>
              </a:rPr>
              <a:t>Longest match 192.168.10.96/28 via G0/2, TTL minus 1, ARP for the server, new frame with the same IPs</a:t>
            </a:r>
            <a:endParaRPr lang="en-US" sz="1400" dirty="0"/>
          </a:p>
        </p:txBody>
      </p:sp>
      <p:sp>
        <p:nvSpPr>
          <p:cNvPr id="20" name="Journey card 5"/>
          <p:cNvSpPr/>
          <p:nvPr/>
        </p:nvSpPr>
        <p:spPr>
          <a:xfrm>
            <a:off x="457200" y="3474720"/>
            <a:ext cx="4023360" cy="1051560"/>
          </a:xfrm>
          <a:prstGeom prst="roundRect">
            <a:avLst>
              <a:gd name="adj" fmla="val 6957"/>
            </a:avLst>
          </a:prstGeom>
          <a:solidFill>
            <a:schemeClr val="bg2"/>
          </a:solidFill>
          <a:ln/>
        </p:spPr>
      </p:sp>
      <p:sp>
        <p:nvSpPr>
          <p:cNvPr id="21" name="Journey number 5"/>
          <p:cNvSpPr/>
          <p:nvPr/>
        </p:nvSpPr>
        <p:spPr>
          <a:xfrm>
            <a:off x="594360" y="3611880"/>
            <a:ext cx="411480" cy="411480"/>
          </a:xfrm>
          <a:prstGeom prst="ellipse">
            <a:avLst/>
          </a:prstGeom>
          <a:solidFill>
            <a:schemeClr val="accent2"/>
          </a:solidFill>
          <a:ln/>
        </p:spPr>
      </p:sp>
      <p:sp>
        <p:nvSpPr>
          <p:cNvPr id="22" name="Journey number 5 label"/>
          <p:cNvSpPr txBox="1"/>
          <p:nvPr/>
        </p:nvSpPr>
        <p:spPr>
          <a:xfrm>
            <a:off x="594360" y="3611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3" name="Journey text 5"/>
          <p:cNvSpPr txBox="1"/>
          <p:nvPr/>
        </p:nvSpPr>
        <p:spPr>
          <a:xfrm>
            <a:off x="1143000" y="3547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TCP handshake</a:t>
            </a:r>
            <a:endParaRPr lang="en-US" sz="1400" dirty="0"/>
          </a:p>
          <a:p>
            <a:pPr indent="0" marL="0">
              <a:buNone/>
            </a:pPr>
            <a:r>
              <a:rPr lang="en-US" sz="1200" dirty="0">
                <a:solidFill>
                  <a:schemeClr val="tx1"/>
                </a:solidFill>
              </a:rPr>
              <a:t>SYN, SYN-ACK, ACK from a random source port to destination port 80</a:t>
            </a:r>
            <a:endParaRPr lang="en-US" sz="1400" dirty="0"/>
          </a:p>
        </p:txBody>
      </p:sp>
      <p:sp>
        <p:nvSpPr>
          <p:cNvPr id="24" name="Journey card 6"/>
          <p:cNvSpPr/>
          <p:nvPr/>
        </p:nvSpPr>
        <p:spPr>
          <a:xfrm>
            <a:off x="4663440" y="3474720"/>
            <a:ext cx="4023360" cy="1051560"/>
          </a:xfrm>
          <a:prstGeom prst="roundRect">
            <a:avLst>
              <a:gd name="adj" fmla="val 6957"/>
            </a:avLst>
          </a:prstGeom>
          <a:solidFill>
            <a:schemeClr val="bg2"/>
          </a:solidFill>
          <a:ln/>
        </p:spPr>
      </p:sp>
      <p:sp>
        <p:nvSpPr>
          <p:cNvPr id="25" name="Journey number 6"/>
          <p:cNvSpPr/>
          <p:nvPr/>
        </p:nvSpPr>
        <p:spPr>
          <a:xfrm>
            <a:off x="4800600" y="3611880"/>
            <a:ext cx="411480" cy="411480"/>
          </a:xfrm>
          <a:prstGeom prst="ellipse">
            <a:avLst/>
          </a:prstGeom>
          <a:solidFill>
            <a:schemeClr val="accent2"/>
          </a:solidFill>
          <a:ln/>
        </p:spPr>
      </p:sp>
      <p:sp>
        <p:nvSpPr>
          <p:cNvPr id="26" name="Journey number 6 label"/>
          <p:cNvSpPr txBox="1"/>
          <p:nvPr/>
        </p:nvSpPr>
        <p:spPr>
          <a:xfrm>
            <a:off x="4800600" y="3611880"/>
            <a:ext cx="411480" cy="411480"/>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7" name="Journey text 6"/>
          <p:cNvSpPr txBox="1"/>
          <p:nvPr/>
        </p:nvSpPr>
        <p:spPr>
          <a:xfrm>
            <a:off x="5349240" y="3547872"/>
            <a:ext cx="3246120" cy="914400"/>
          </a:xfrm>
          <a:prstGeom prst="rect">
            <a:avLst/>
          </a:prstGeom>
          <a:noFill/>
          <a:ln/>
        </p:spPr>
        <p:txBody>
          <a:bodyPr wrap="square" lIns="0" tIns="0" rIns="0" bIns="0" rtlCol="0" anchor="ctr"/>
          <a:lstStyle/>
          <a:p>
            <a:pPr indent="0" marL="0">
              <a:buNone/>
            </a:pPr>
            <a:r>
              <a:rPr lang="en-US" sz="1400" b="1" dirty="0">
                <a:solidFill>
                  <a:schemeClr val="tx2"/>
                </a:solidFill>
              </a:rPr>
              <a:t>HTTP response</a:t>
            </a:r>
            <a:endParaRPr lang="en-US" sz="1400" dirty="0"/>
          </a:p>
          <a:p>
            <a:pPr indent="0" marL="0">
              <a:buNone/>
            </a:pPr>
            <a:r>
              <a:rPr lang="en-US" sz="1200" dirty="0">
                <a:solidFill>
                  <a:schemeClr val="tx1"/>
                </a:solidFill>
              </a:rPr>
              <a:t>GET, then 200 OK with the page, ACKs and FIN. Bits travel as signals on UTP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5212080" cy="1920240"/>
          </a:xfrm>
          <a:prstGeom prst="rect">
            <a:avLst/>
          </a:prstGeom>
          <a:noFill/>
          <a:ln/>
        </p:spPr>
        <p:txBody>
          <a:bodyPr wrap="square" lIns="0" tIns="0" rIns="0" bIns="0" rtlCol="0" anchor="t"/>
          <a:lstStyle/>
          <a:p>
            <a:pPr indent="0" marL="0">
              <a:buNone/>
            </a:pPr>
            <a:r>
              <a:rPr lang="en-US" sz="3600" b="1" dirty="0">
                <a:solidFill>
                  <a:schemeClr val="bg1"/>
                </a:solidFill>
              </a:rPr>
              <a:t>Questions?</a:t>
            </a:r>
            <a:endParaRPr lang="en-US" sz="3600" dirty="0"/>
          </a:p>
        </p:txBody>
      </p:sp>
      <p:sp>
        <p:nvSpPr>
          <p:cNvPr id="3" name="Text 0"/>
          <p:cNvSpPr/>
          <p:nvPr>
            <p:ph idx="101" type="body" hasCustomPrompt="1"/>
          </p:nvPr>
        </p:nvSpPr>
        <p:spPr>
          <a:xfrm>
            <a:off x="640080" y="3200400"/>
            <a:ext cx="5212080" cy="1280160"/>
          </a:xfrm>
          <a:prstGeom prst="rect">
            <a:avLst/>
          </a:prstGeom>
          <a:noFill/>
          <a:ln/>
        </p:spPr>
        <p:txBody>
          <a:bodyPr wrap="square" lIns="0" tIns="0" rIns="0" bIns="0" rtlCol="0" anchor="t"/>
          <a:lstStyle/>
          <a:p>
            <a:pPr indent="0" marL="0">
              <a:buNone/>
            </a:pPr>
            <a:r>
              <a:rPr lang="en-US" sz="1800" dirty="0">
                <a:solidFill>
                  <a:schemeClr val="bg2"/>
                </a:solidFill>
              </a:rPr>
              <a:t>Planned, built, secured, tested and documented.</a:t>
            </a:r>
            <a:endParaRPr lang="en-US" sz="1800" dirty="0"/>
          </a:p>
          <a:p>
            <a:pPr indent="0" marL="0">
              <a:buNone/>
            </a:pPr>
            <a:r>
              <a:rPr lang="en-US" sz="1800" dirty="0">
                <a:solidFill>
                  <a:schemeClr val="bg2"/>
                </a:solidFill>
              </a:rPr>
              <a:t>IP addresses stay the same end to end; MAC addresses change at every router hop.</a:t>
            </a:r>
            <a:endParaRPr lang="en-US" sz="1800" dirty="0"/>
          </a:p>
        </p:txBody>
      </p:sp>
      <p:sp>
        <p:nvSpPr>
          <p:cNvPr id="4" name="Link left"/>
          <p:cNvSpPr/>
          <p:nvPr/>
        </p:nvSpPr>
        <p:spPr>
          <a:xfrm flipH="1">
            <a:off x="6309360" y="1783080"/>
            <a:ext cx="1005840" cy="1252728"/>
          </a:xfrm>
          <a:prstGeom prst="line">
            <a:avLst/>
          </a:prstGeom>
          <a:noFill/>
          <a:ln w="25400">
            <a:solidFill>
              <a:schemeClr val="accent6"/>
            </a:solidFill>
            <a:prstDash val="solid"/>
          </a:ln>
        </p:spPr>
      </p:sp>
      <p:sp>
        <p:nvSpPr>
          <p:cNvPr id="5" name="Link middle"/>
          <p:cNvSpPr/>
          <p:nvPr/>
        </p:nvSpPr>
        <p:spPr>
          <a:xfrm>
            <a:off x="7315200" y="1783080"/>
            <a:ext cx="0" cy="1252728"/>
          </a:xfrm>
          <a:prstGeom prst="line">
            <a:avLst/>
          </a:prstGeom>
          <a:noFill/>
          <a:ln w="25400">
            <a:solidFill>
              <a:schemeClr val="accent6"/>
            </a:solidFill>
            <a:prstDash val="solid"/>
          </a:ln>
        </p:spPr>
      </p:sp>
      <p:sp>
        <p:nvSpPr>
          <p:cNvPr id="6" name="Link right"/>
          <p:cNvSpPr/>
          <p:nvPr/>
        </p:nvSpPr>
        <p:spPr>
          <a:xfrm>
            <a:off x="7315200" y="1783080"/>
            <a:ext cx="1005840" cy="1252728"/>
          </a:xfrm>
          <a:prstGeom prst="line">
            <a:avLst/>
          </a:prstGeom>
          <a:noFill/>
          <a:ln w="25400">
            <a:solidFill>
              <a:schemeClr val="accent6"/>
            </a:solidFill>
            <a:prstDash val="solid"/>
          </a:ln>
        </p:spPr>
      </p:sp>
      <p:sp>
        <p:nvSpPr>
          <p:cNvPr id="7" name="Router node"/>
          <p:cNvSpPr/>
          <p:nvPr/>
        </p:nvSpPr>
        <p:spPr>
          <a:xfrm>
            <a:off x="6995160" y="1143000"/>
            <a:ext cx="640080" cy="640080"/>
          </a:xfrm>
          <a:prstGeom prst="ellipse">
            <a:avLst/>
          </a:prstGeom>
          <a:solidFill>
            <a:schemeClr val="accent2"/>
          </a:solidFill>
          <a:ln/>
        </p:spPr>
      </p:sp>
      <p:sp>
        <p:nvSpPr>
          <p:cNvPr id="8" name="Switch node 1"/>
          <p:cNvSpPr/>
          <p:nvPr/>
        </p:nvSpPr>
        <p:spPr>
          <a:xfrm>
            <a:off x="6057900" y="3017520"/>
            <a:ext cx="502920" cy="502920"/>
          </a:xfrm>
          <a:prstGeom prst="ellipse">
            <a:avLst/>
          </a:prstGeom>
          <a:solidFill>
            <a:schemeClr val="accent1"/>
          </a:solidFill>
          <a:ln/>
        </p:spPr>
      </p:sp>
      <p:sp>
        <p:nvSpPr>
          <p:cNvPr id="9" name="Switch node 2"/>
          <p:cNvSpPr/>
          <p:nvPr/>
        </p:nvSpPr>
        <p:spPr>
          <a:xfrm>
            <a:off x="7063740" y="3017520"/>
            <a:ext cx="502920" cy="502920"/>
          </a:xfrm>
          <a:prstGeom prst="ellipse">
            <a:avLst/>
          </a:prstGeom>
          <a:solidFill>
            <a:schemeClr val="accent1"/>
          </a:solidFill>
          <a:ln/>
        </p:spPr>
      </p:sp>
      <p:sp>
        <p:nvSpPr>
          <p:cNvPr id="10" name="Switch node 3"/>
          <p:cNvSpPr/>
          <p:nvPr/>
        </p:nvSpPr>
        <p:spPr>
          <a:xfrm>
            <a:off x="8069580" y="3017520"/>
            <a:ext cx="502920" cy="502920"/>
          </a:xfrm>
          <a:prstGeom prst="ellipse">
            <a:avLst/>
          </a:prstGeom>
          <a:solidFill>
            <a:schemeClr val="accent1"/>
          </a:solidFill>
          <a:ln/>
        </p:spPr>
      </p:sp>
      <p:sp>
        <p:nvSpPr>
          <p:cNvPr id="11" name="Host link 1"/>
          <p:cNvSpPr/>
          <p:nvPr/>
        </p:nvSpPr>
        <p:spPr>
          <a:xfrm flipH="1">
            <a:off x="5806440" y="3520440"/>
            <a:ext cx="502920" cy="457200"/>
          </a:xfrm>
          <a:prstGeom prst="line">
            <a:avLst/>
          </a:prstGeom>
          <a:noFill/>
          <a:ln w="12700">
            <a:solidFill>
              <a:schemeClr val="accent5"/>
            </a:solidFill>
            <a:prstDash val="solid"/>
          </a:ln>
        </p:spPr>
      </p:sp>
      <p:sp>
        <p:nvSpPr>
          <p:cNvPr id="12" name="Host link 2"/>
          <p:cNvSpPr/>
          <p:nvPr/>
        </p:nvSpPr>
        <p:spPr>
          <a:xfrm>
            <a:off x="6309360" y="3520440"/>
            <a:ext cx="0" cy="457200"/>
          </a:xfrm>
          <a:prstGeom prst="line">
            <a:avLst/>
          </a:prstGeom>
          <a:noFill/>
          <a:ln w="12700">
            <a:solidFill>
              <a:schemeClr val="accent5"/>
            </a:solidFill>
            <a:prstDash val="solid"/>
          </a:ln>
        </p:spPr>
      </p:sp>
      <p:sp>
        <p:nvSpPr>
          <p:cNvPr id="13" name="Host link 3"/>
          <p:cNvSpPr/>
          <p:nvPr/>
        </p:nvSpPr>
        <p:spPr>
          <a:xfrm>
            <a:off x="6309360" y="3520440"/>
            <a:ext cx="502920" cy="457200"/>
          </a:xfrm>
          <a:prstGeom prst="line">
            <a:avLst/>
          </a:prstGeom>
          <a:noFill/>
          <a:ln w="12700">
            <a:solidFill>
              <a:schemeClr val="accent5"/>
            </a:solidFill>
            <a:prstDash val="solid"/>
          </a:ln>
        </p:spPr>
      </p:sp>
      <p:sp>
        <p:nvSpPr>
          <p:cNvPr id="14" name="Host link 4"/>
          <p:cNvSpPr/>
          <p:nvPr/>
        </p:nvSpPr>
        <p:spPr>
          <a:xfrm flipH="1">
            <a:off x="6812280" y="3520440"/>
            <a:ext cx="502920" cy="457200"/>
          </a:xfrm>
          <a:prstGeom prst="line">
            <a:avLst/>
          </a:prstGeom>
          <a:noFill/>
          <a:ln w="12700">
            <a:solidFill>
              <a:schemeClr val="accent5"/>
            </a:solidFill>
            <a:prstDash val="solid"/>
          </a:ln>
        </p:spPr>
      </p:sp>
      <p:sp>
        <p:nvSpPr>
          <p:cNvPr id="15" name="Host link 5"/>
          <p:cNvSpPr/>
          <p:nvPr/>
        </p:nvSpPr>
        <p:spPr>
          <a:xfrm>
            <a:off x="7315200" y="3520440"/>
            <a:ext cx="0" cy="457200"/>
          </a:xfrm>
          <a:prstGeom prst="line">
            <a:avLst/>
          </a:prstGeom>
          <a:noFill/>
          <a:ln w="12700">
            <a:solidFill>
              <a:schemeClr val="accent5"/>
            </a:solidFill>
            <a:prstDash val="solid"/>
          </a:ln>
        </p:spPr>
      </p:sp>
      <p:sp>
        <p:nvSpPr>
          <p:cNvPr id="16" name="Host link 6"/>
          <p:cNvSpPr/>
          <p:nvPr/>
        </p:nvSpPr>
        <p:spPr>
          <a:xfrm>
            <a:off x="7315200" y="3520440"/>
            <a:ext cx="502920" cy="457200"/>
          </a:xfrm>
          <a:prstGeom prst="line">
            <a:avLst/>
          </a:prstGeom>
          <a:noFill/>
          <a:ln w="12700">
            <a:solidFill>
              <a:schemeClr val="accent5"/>
            </a:solidFill>
            <a:prstDash val="solid"/>
          </a:ln>
        </p:spPr>
      </p:sp>
      <p:sp>
        <p:nvSpPr>
          <p:cNvPr id="17" name="Host link 7"/>
          <p:cNvSpPr/>
          <p:nvPr/>
        </p:nvSpPr>
        <p:spPr>
          <a:xfrm flipH="1">
            <a:off x="7818120" y="3520440"/>
            <a:ext cx="502920" cy="457200"/>
          </a:xfrm>
          <a:prstGeom prst="line">
            <a:avLst/>
          </a:prstGeom>
          <a:noFill/>
          <a:ln w="12700">
            <a:solidFill>
              <a:schemeClr val="accent5"/>
            </a:solidFill>
            <a:prstDash val="solid"/>
          </a:ln>
        </p:spPr>
      </p:sp>
      <p:sp>
        <p:nvSpPr>
          <p:cNvPr id="18" name="Host link 8"/>
          <p:cNvSpPr/>
          <p:nvPr/>
        </p:nvSpPr>
        <p:spPr>
          <a:xfrm>
            <a:off x="8321040" y="3520440"/>
            <a:ext cx="0" cy="457200"/>
          </a:xfrm>
          <a:prstGeom prst="line">
            <a:avLst/>
          </a:prstGeom>
          <a:noFill/>
          <a:ln w="12700">
            <a:solidFill>
              <a:schemeClr val="accent5"/>
            </a:solidFill>
            <a:prstDash val="solid"/>
          </a:ln>
        </p:spPr>
      </p:sp>
      <p:sp>
        <p:nvSpPr>
          <p:cNvPr id="19" name="Host link 9"/>
          <p:cNvSpPr/>
          <p:nvPr/>
        </p:nvSpPr>
        <p:spPr>
          <a:xfrm>
            <a:off x="8321040" y="3520440"/>
            <a:ext cx="502920" cy="457200"/>
          </a:xfrm>
          <a:prstGeom prst="line">
            <a:avLst/>
          </a:prstGeom>
          <a:noFill/>
          <a:ln w="12700">
            <a:solidFill>
              <a:schemeClr val="accent5"/>
            </a:solidFill>
            <a:prstDash val="solid"/>
          </a:ln>
        </p:spPr>
      </p:sp>
    </p:spTree>
  </p:cSld>
  <p:clrMapOvr>
    <a:masterClrMapping/>
  </p:clrMapOvr>
</p:sld>
</file>

<file path=ppt/theme/theme1.xml><?xml version="1.0" encoding="utf-8"?>
<a:theme xmlns:a="http://schemas.openxmlformats.org/drawingml/2006/main" name="UCU Network Lab">
  <a:themeElements>
    <a:clrScheme name="UCU Network Lab">
      <a:dk1>
        <a:srgbClr val="1B2733"/>
      </a:dk1>
      <a:lt1>
        <a:srgbClr val="FFFFFF"/>
      </a:lt1>
      <a:dk2>
        <a:srgbClr val="0B2A3C"/>
      </a:dk2>
      <a:lt2>
        <a:srgbClr val="EEF4F7"/>
      </a:lt2>
      <a:accent1>
        <a:srgbClr val="1C7293"/>
      </a:accent1>
      <a:accent2>
        <a:srgbClr val="F2A541"/>
      </a:accent2>
      <a:accent3>
        <a:srgbClr val="2E8B6E"/>
      </a:accent3>
      <a:accent4>
        <a:srgbClr val="C8553D"/>
      </a:accent4>
      <a:accent5>
        <a:srgbClr val="5B7B8C"/>
      </a:accent5>
      <a:accent6>
        <a:srgbClr val="8FB8C9"/>
      </a:accent6>
      <a:hlink>
        <a:srgbClr val="1C7293"/>
      </a:hlink>
      <a:folHlink>
        <a:srgbClr val="5B7B8C"/>
      </a:folHlink>
    </a:clrScheme>
    <a:fontScheme name="UCU Network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Build and Test a Small Office Network</dc:title>
  <dc:subject>PptxGenJS Presentation</dc:subject>
  <dc:creator>CCNA 1 Group X</dc:creator>
  <cp:lastModifiedBy>CCNA 1 Group X</cp:lastModifiedBy>
  <cp:revision>1</cp:revision>
  <dcterms:created xsi:type="dcterms:W3CDTF">2026-10-13T04:26:22Z</dcterms:created>
  <dcterms:modified xsi:type="dcterms:W3CDTF">2026-10-13T04:26:22Z</dcterms:modified>
</cp:coreProperties>
</file>